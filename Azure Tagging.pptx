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aser Arabic Ultra-Bold" charset="1" panose="00000900000000000000"/>
      <p:regular r:id="rId13"/>
    </p:embeddedFont>
    <p:embeddedFont>
      <p:font typeface="Montserrat" charset="1" panose="00000500000000000000"/>
      <p:regular r:id="rId14"/>
    </p:embeddedFont>
    <p:embeddedFont>
      <p:font typeface="Montserrat Bold" charset="1" panose="00000800000000000000"/>
      <p:regular r:id="rId15"/>
    </p:embeddedFon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0.jpeg" Type="http://schemas.openxmlformats.org/officeDocument/2006/relationships/image"/><Relationship Id="rId8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2.jpeg" Type="http://schemas.openxmlformats.org/officeDocument/2006/relationships/image"/><Relationship Id="rId8" Target="../media/image13.jpeg" Type="http://schemas.openxmlformats.org/officeDocument/2006/relationships/image"/><Relationship Id="rId9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4.jpeg" Type="http://schemas.openxmlformats.org/officeDocument/2006/relationships/image"/><Relationship Id="rId6" Target="../media/image15.jpe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400" t="-25884" r="-879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071988" cy="10287000"/>
            <a:chOff x="0" y="0"/>
            <a:chExt cx="3179454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79454" cy="2709333"/>
            </a:xfrm>
            <a:custGeom>
              <a:avLst/>
              <a:gdLst/>
              <a:ahLst/>
              <a:cxnLst/>
              <a:rect r="r" b="b" t="t" l="l"/>
              <a:pathLst>
                <a:path h="2709333" w="3179454">
                  <a:moveTo>
                    <a:pt x="0" y="0"/>
                  </a:moveTo>
                  <a:lnTo>
                    <a:pt x="3179454" y="0"/>
                  </a:lnTo>
                  <a:lnTo>
                    <a:pt x="3179454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100000"/>
                  </a:srgbClr>
                </a:gs>
                <a:gs pos="66667">
                  <a:srgbClr val="000000">
                    <a:alpha val="82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179454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306077" y="7443744"/>
            <a:ext cx="5290838" cy="840036"/>
            <a:chOff x="0" y="0"/>
            <a:chExt cx="2559647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647" cy="406400"/>
            </a:xfrm>
            <a:custGeom>
              <a:avLst/>
              <a:gdLst/>
              <a:ahLst/>
              <a:cxnLst/>
              <a:rect r="r" b="b" t="t" l="l"/>
              <a:pathLst>
                <a:path h="406400" w="2559647">
                  <a:moveTo>
                    <a:pt x="2356447" y="0"/>
                  </a:moveTo>
                  <a:cubicBezTo>
                    <a:pt x="2468671" y="0"/>
                    <a:pt x="2559647" y="90976"/>
                    <a:pt x="2559647" y="203200"/>
                  </a:cubicBezTo>
                  <a:cubicBezTo>
                    <a:pt x="2559647" y="315424"/>
                    <a:pt x="2468671" y="406400"/>
                    <a:pt x="235644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832">
                    <a:alpha val="100000"/>
                  </a:srgbClr>
                </a:gs>
                <a:gs pos="100000">
                  <a:srgbClr val="00B1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55964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37596" y="7443744"/>
            <a:ext cx="3483091" cy="840036"/>
            <a:chOff x="0" y="0"/>
            <a:chExt cx="168508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5080" cy="406400"/>
            </a:xfrm>
            <a:custGeom>
              <a:avLst/>
              <a:gdLst/>
              <a:ahLst/>
              <a:cxnLst/>
              <a:rect r="r" b="b" t="t" l="l"/>
              <a:pathLst>
                <a:path h="406400" w="1685080">
                  <a:moveTo>
                    <a:pt x="1481880" y="0"/>
                  </a:moveTo>
                  <a:cubicBezTo>
                    <a:pt x="1594104" y="0"/>
                    <a:pt x="1685080" y="90976"/>
                    <a:pt x="1685080" y="203200"/>
                  </a:cubicBezTo>
                  <a:cubicBezTo>
                    <a:pt x="1685080" y="315424"/>
                    <a:pt x="1594104" y="406400"/>
                    <a:pt x="148188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832">
                    <a:alpha val="100000"/>
                  </a:srgbClr>
                </a:gs>
                <a:gs pos="100000">
                  <a:srgbClr val="00B1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8508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832600" y="8721930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759952" y="7835633"/>
            <a:ext cx="4836963" cy="846468"/>
          </a:xfrm>
          <a:custGeom>
            <a:avLst/>
            <a:gdLst/>
            <a:ahLst/>
            <a:cxnLst/>
            <a:rect r="r" b="b" t="t" l="l"/>
            <a:pathLst>
              <a:path h="846468" w="4836963">
                <a:moveTo>
                  <a:pt x="0" y="0"/>
                </a:moveTo>
                <a:lnTo>
                  <a:pt x="4836962" y="0"/>
                </a:lnTo>
                <a:lnTo>
                  <a:pt x="4836962" y="846469"/>
                </a:lnTo>
                <a:lnTo>
                  <a:pt x="0" y="8464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0422" y="7177785"/>
            <a:ext cx="3039530" cy="531918"/>
          </a:xfrm>
          <a:custGeom>
            <a:avLst/>
            <a:gdLst/>
            <a:ahLst/>
            <a:cxnLst/>
            <a:rect r="r" b="b" t="t" l="l"/>
            <a:pathLst>
              <a:path h="531918" w="3039530">
                <a:moveTo>
                  <a:pt x="0" y="0"/>
                </a:moveTo>
                <a:lnTo>
                  <a:pt x="3039530" y="0"/>
                </a:lnTo>
                <a:lnTo>
                  <a:pt x="3039530" y="531917"/>
                </a:lnTo>
                <a:lnTo>
                  <a:pt x="0" y="531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37596" y="2957743"/>
            <a:ext cx="8994395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b="true">
                <a:solidFill>
                  <a:srgbClr val="FFFFFF"/>
                </a:solidFill>
                <a:latin typeface="Montaser Arabic Ultra-Bold"/>
                <a:ea typeface="Montaser Arabic Ultra-Bold"/>
                <a:cs typeface="Montaser Arabic Ultra-Bold"/>
                <a:sym typeface="Montaser Arabic Ultra-Bold"/>
              </a:rPr>
              <a:t>Azure Tagging Solution-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7596" y="4080355"/>
            <a:ext cx="100685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true">
                <a:solidFill>
                  <a:srgbClr val="FFFFFF"/>
                </a:solidFill>
                <a:latin typeface="Montaser Arabic Ultra-Bold"/>
                <a:ea typeface="Montaser Arabic Ultra-Bold"/>
                <a:cs typeface="Montaser Arabic Ultra-Bold"/>
                <a:sym typeface="Montaser Arabic Ultra-Bold"/>
              </a:rPr>
              <a:t>Reusable Automation Approach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19332" y="5560350"/>
            <a:ext cx="8912659" cy="13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1"/>
              </a:lnSpc>
            </a:pPr>
            <a:r>
              <a:rPr lang="en-US" sz="26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Automation is not about replacing humans — it’s about empowering them to do more meaningful work.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9332" y="7628865"/>
            <a:ext cx="3324699" cy="44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8"/>
              </a:lnSpc>
            </a:pPr>
            <a:r>
              <a:rPr lang="en-US" sz="27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Presented By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34794" y="7600699"/>
            <a:ext cx="4161789" cy="441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8"/>
              </a:lnSpc>
            </a:pPr>
            <a:r>
              <a:rPr lang="en-US" sz="275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Amit Gupta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32600" y="8721930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74661" y="-2875072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74422" y="4084647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3"/>
                </a:lnTo>
                <a:lnTo>
                  <a:pt x="0" y="44192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875720" y="2261248"/>
            <a:ext cx="5787173" cy="4969108"/>
            <a:chOff x="0" y="0"/>
            <a:chExt cx="896585" cy="7698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6585" cy="769845"/>
            </a:xfrm>
            <a:custGeom>
              <a:avLst/>
              <a:gdLst/>
              <a:ahLst/>
              <a:cxnLst/>
              <a:rect r="r" b="b" t="t" l="l"/>
              <a:pathLst>
                <a:path h="769845" w="896585">
                  <a:moveTo>
                    <a:pt x="74915" y="0"/>
                  </a:moveTo>
                  <a:lnTo>
                    <a:pt x="821669" y="0"/>
                  </a:lnTo>
                  <a:cubicBezTo>
                    <a:pt x="841538" y="0"/>
                    <a:pt x="860593" y="7893"/>
                    <a:pt x="874642" y="21942"/>
                  </a:cubicBezTo>
                  <a:cubicBezTo>
                    <a:pt x="888692" y="35992"/>
                    <a:pt x="896585" y="55046"/>
                    <a:pt x="896585" y="74915"/>
                  </a:cubicBezTo>
                  <a:lnTo>
                    <a:pt x="896585" y="694930"/>
                  </a:lnTo>
                  <a:cubicBezTo>
                    <a:pt x="896585" y="736304"/>
                    <a:pt x="863044" y="769845"/>
                    <a:pt x="821669" y="769845"/>
                  </a:cubicBezTo>
                  <a:lnTo>
                    <a:pt x="74915" y="769845"/>
                  </a:lnTo>
                  <a:cubicBezTo>
                    <a:pt x="33541" y="769845"/>
                    <a:pt x="0" y="736304"/>
                    <a:pt x="0" y="694930"/>
                  </a:cubicBezTo>
                  <a:lnTo>
                    <a:pt x="0" y="74915"/>
                  </a:lnTo>
                  <a:cubicBezTo>
                    <a:pt x="0" y="33541"/>
                    <a:pt x="33541" y="0"/>
                    <a:pt x="74915" y="0"/>
                  </a:cubicBezTo>
                  <a:close/>
                </a:path>
              </a:pathLst>
            </a:custGeom>
            <a:blipFill>
              <a:blip r:embed="rId5"/>
              <a:stretch>
                <a:fillRect l="-6120" t="0" r="-612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63836" y="5520309"/>
            <a:ext cx="4299005" cy="2983601"/>
            <a:chOff x="0" y="0"/>
            <a:chExt cx="999406" cy="6936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9406" cy="693609"/>
            </a:xfrm>
            <a:custGeom>
              <a:avLst/>
              <a:gdLst/>
              <a:ahLst/>
              <a:cxnLst/>
              <a:rect r="r" b="b" t="t" l="l"/>
              <a:pathLst>
                <a:path h="693609" w="999406">
                  <a:moveTo>
                    <a:pt x="100848" y="0"/>
                  </a:moveTo>
                  <a:lnTo>
                    <a:pt x="898558" y="0"/>
                  </a:lnTo>
                  <a:cubicBezTo>
                    <a:pt x="954255" y="0"/>
                    <a:pt x="999406" y="45151"/>
                    <a:pt x="999406" y="100848"/>
                  </a:cubicBezTo>
                  <a:lnTo>
                    <a:pt x="999406" y="592761"/>
                  </a:lnTo>
                  <a:cubicBezTo>
                    <a:pt x="999406" y="648458"/>
                    <a:pt x="954255" y="693609"/>
                    <a:pt x="898558" y="693609"/>
                  </a:cubicBezTo>
                  <a:lnTo>
                    <a:pt x="100848" y="693609"/>
                  </a:lnTo>
                  <a:cubicBezTo>
                    <a:pt x="45151" y="693609"/>
                    <a:pt x="0" y="648458"/>
                    <a:pt x="0" y="592761"/>
                  </a:cubicBezTo>
                  <a:lnTo>
                    <a:pt x="0" y="100848"/>
                  </a:lnTo>
                  <a:cubicBezTo>
                    <a:pt x="0" y="45151"/>
                    <a:pt x="45151" y="0"/>
                    <a:pt x="100848" y="0"/>
                  </a:cubicBezTo>
                  <a:close/>
                </a:path>
              </a:pathLst>
            </a:custGeom>
            <a:blipFill>
              <a:blip r:embed="rId6"/>
              <a:stretch>
                <a:fillRect l="-85367" t="-33359" r="0" b="-44589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51684" y="1086258"/>
            <a:ext cx="4863514" cy="83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  <a:spcBef>
                <a:spcPct val="0"/>
              </a:spcBef>
            </a:pPr>
            <a:r>
              <a:rPr lang="en-US" sz="4903" b="true">
                <a:solidFill>
                  <a:srgbClr val="FFFFFF"/>
                </a:solidFill>
                <a:latin typeface="Montaser Arabic Ultra-Bold"/>
                <a:ea typeface="Montaser Arabic Ultra-Bold"/>
                <a:cs typeface="Montaser Arabic Ultra-Bold"/>
                <a:sym typeface="Montaser Arabic Ultra-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1684" y="2471747"/>
            <a:ext cx="7706404" cy="161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Tagging is a foundational practice in cloud governance that involves assigning key-value pairs to resources for better management, visibility, and control. Tags help categorize resources based on purpose, ownership, environment, cost center, compliance, and more.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33121" y="4726752"/>
            <a:ext cx="7002582" cy="206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 large-scale cloud environments, where hundreds or thousands of resources may exist, tagging enables:</a:t>
            </a: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Efficient cost tracking </a:t>
            </a: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Automated policy enforcement</a:t>
            </a: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Simplified reporting and audits</a:t>
            </a: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Faster incident response and troubleshooting</a:t>
            </a: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Better resource organization and lifecycle management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2058" y="4707702"/>
            <a:ext cx="809360" cy="50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15"/>
              </a:lnSpc>
            </a:pPr>
            <a:r>
              <a:rPr lang="en-US" sz="3089" b="true">
                <a:solidFill>
                  <a:srgbClr val="04E1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2058" y="7233612"/>
            <a:ext cx="809360" cy="50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15"/>
              </a:lnSpc>
            </a:pPr>
            <a:r>
              <a:rPr lang="en-US" sz="3089" b="true">
                <a:solidFill>
                  <a:srgbClr val="04E1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33121" y="7252662"/>
            <a:ext cx="6432488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well-implemented tagging strategy ensures that organizations maintain clarity, accountability, and operational efficiency across their cloud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34158" y="3793177"/>
            <a:ext cx="8585867" cy="586480"/>
            <a:chOff x="0" y="0"/>
            <a:chExt cx="5949553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49553" cy="406400"/>
            </a:xfrm>
            <a:custGeom>
              <a:avLst/>
              <a:gdLst/>
              <a:ahLst/>
              <a:cxnLst/>
              <a:rect r="r" b="b" t="t" l="l"/>
              <a:pathLst>
                <a:path h="406400" w="5949553">
                  <a:moveTo>
                    <a:pt x="5746353" y="0"/>
                  </a:moveTo>
                  <a:cubicBezTo>
                    <a:pt x="5858577" y="0"/>
                    <a:pt x="5949553" y="90976"/>
                    <a:pt x="5949553" y="203200"/>
                  </a:cubicBezTo>
                  <a:cubicBezTo>
                    <a:pt x="5949553" y="315424"/>
                    <a:pt x="5858577" y="406400"/>
                    <a:pt x="574635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832">
                    <a:alpha val="100000"/>
                  </a:srgbClr>
                </a:gs>
                <a:gs pos="100000">
                  <a:srgbClr val="00B1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4955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34158" y="4461394"/>
            <a:ext cx="8585867" cy="796880"/>
            <a:chOff x="0" y="0"/>
            <a:chExt cx="5949553" cy="5521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49553" cy="552196"/>
            </a:xfrm>
            <a:custGeom>
              <a:avLst/>
              <a:gdLst/>
              <a:ahLst/>
              <a:cxnLst/>
              <a:rect r="r" b="b" t="t" l="l"/>
              <a:pathLst>
                <a:path h="552196" w="5949553">
                  <a:moveTo>
                    <a:pt x="5746353" y="0"/>
                  </a:moveTo>
                  <a:cubicBezTo>
                    <a:pt x="5858577" y="0"/>
                    <a:pt x="5949553" y="123613"/>
                    <a:pt x="5949553" y="276098"/>
                  </a:cubicBezTo>
                  <a:cubicBezTo>
                    <a:pt x="5949553" y="428583"/>
                    <a:pt x="5858577" y="552196"/>
                    <a:pt x="5746353" y="552196"/>
                  </a:cubicBezTo>
                  <a:lnTo>
                    <a:pt x="203200" y="552196"/>
                  </a:lnTo>
                  <a:cubicBezTo>
                    <a:pt x="90976" y="552196"/>
                    <a:pt x="0" y="428583"/>
                    <a:pt x="0" y="276098"/>
                  </a:cubicBezTo>
                  <a:cubicBezTo>
                    <a:pt x="0" y="12361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832">
                    <a:alpha val="100000"/>
                  </a:srgbClr>
                </a:gs>
                <a:gs pos="100000">
                  <a:srgbClr val="00B1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49553" cy="590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92382" y="5344000"/>
            <a:ext cx="8527643" cy="752247"/>
            <a:chOff x="0" y="0"/>
            <a:chExt cx="5909207" cy="5212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09207" cy="521268"/>
            </a:xfrm>
            <a:custGeom>
              <a:avLst/>
              <a:gdLst/>
              <a:ahLst/>
              <a:cxnLst/>
              <a:rect r="r" b="b" t="t" l="l"/>
              <a:pathLst>
                <a:path h="521268" w="5909207">
                  <a:moveTo>
                    <a:pt x="5706007" y="0"/>
                  </a:moveTo>
                  <a:cubicBezTo>
                    <a:pt x="5818231" y="0"/>
                    <a:pt x="5909207" y="116690"/>
                    <a:pt x="5909207" y="260634"/>
                  </a:cubicBezTo>
                  <a:cubicBezTo>
                    <a:pt x="5909207" y="404578"/>
                    <a:pt x="5818231" y="521268"/>
                    <a:pt x="5706007" y="521268"/>
                  </a:cubicBezTo>
                  <a:lnTo>
                    <a:pt x="203200" y="521268"/>
                  </a:lnTo>
                  <a:cubicBezTo>
                    <a:pt x="90976" y="521268"/>
                    <a:pt x="0" y="404578"/>
                    <a:pt x="0" y="260634"/>
                  </a:cubicBezTo>
                  <a:cubicBezTo>
                    <a:pt x="0" y="116690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832">
                    <a:alpha val="100000"/>
                  </a:srgbClr>
                </a:gs>
                <a:gs pos="100000">
                  <a:srgbClr val="00B1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909207" cy="559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442629" y="3929124"/>
            <a:ext cx="314587" cy="314587"/>
          </a:xfrm>
          <a:custGeom>
            <a:avLst/>
            <a:gdLst/>
            <a:ahLst/>
            <a:cxnLst/>
            <a:rect r="r" b="b" t="t" l="l"/>
            <a:pathLst>
              <a:path h="314587" w="314587">
                <a:moveTo>
                  <a:pt x="0" y="0"/>
                </a:moveTo>
                <a:lnTo>
                  <a:pt x="314587" y="0"/>
                </a:lnTo>
                <a:lnTo>
                  <a:pt x="314587" y="314586"/>
                </a:lnTo>
                <a:lnTo>
                  <a:pt x="0" y="3145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42629" y="4615858"/>
            <a:ext cx="314587" cy="314587"/>
          </a:xfrm>
          <a:custGeom>
            <a:avLst/>
            <a:gdLst/>
            <a:ahLst/>
            <a:cxnLst/>
            <a:rect r="r" b="b" t="t" l="l"/>
            <a:pathLst>
              <a:path h="314587" w="314587">
                <a:moveTo>
                  <a:pt x="0" y="0"/>
                </a:moveTo>
                <a:lnTo>
                  <a:pt x="314587" y="0"/>
                </a:lnTo>
                <a:lnTo>
                  <a:pt x="314587" y="314587"/>
                </a:lnTo>
                <a:lnTo>
                  <a:pt x="0" y="3145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500854" y="5516979"/>
            <a:ext cx="314587" cy="314587"/>
          </a:xfrm>
          <a:custGeom>
            <a:avLst/>
            <a:gdLst/>
            <a:ahLst/>
            <a:cxnLst/>
            <a:rect r="r" b="b" t="t" l="l"/>
            <a:pathLst>
              <a:path h="314587" w="314587">
                <a:moveTo>
                  <a:pt x="0" y="0"/>
                </a:moveTo>
                <a:lnTo>
                  <a:pt x="314587" y="0"/>
                </a:lnTo>
                <a:lnTo>
                  <a:pt x="314587" y="314587"/>
                </a:lnTo>
                <a:lnTo>
                  <a:pt x="0" y="3145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750138" y="8699324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51130" y="2421249"/>
            <a:ext cx="7146138" cy="4930936"/>
            <a:chOff x="0" y="0"/>
            <a:chExt cx="1107124" cy="7639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7124" cy="763931"/>
            </a:xfrm>
            <a:custGeom>
              <a:avLst/>
              <a:gdLst/>
              <a:ahLst/>
              <a:cxnLst/>
              <a:rect r="r" b="b" t="t" l="l"/>
              <a:pathLst>
                <a:path h="763931" w="1107124">
                  <a:moveTo>
                    <a:pt x="60669" y="0"/>
                  </a:moveTo>
                  <a:lnTo>
                    <a:pt x="1046455" y="0"/>
                  </a:lnTo>
                  <a:cubicBezTo>
                    <a:pt x="1079961" y="0"/>
                    <a:pt x="1107124" y="27162"/>
                    <a:pt x="1107124" y="60669"/>
                  </a:cubicBezTo>
                  <a:lnTo>
                    <a:pt x="1107124" y="703262"/>
                  </a:lnTo>
                  <a:cubicBezTo>
                    <a:pt x="1107124" y="719353"/>
                    <a:pt x="1100732" y="734784"/>
                    <a:pt x="1089354" y="746162"/>
                  </a:cubicBezTo>
                  <a:cubicBezTo>
                    <a:pt x="1077977" y="757539"/>
                    <a:pt x="1062545" y="763931"/>
                    <a:pt x="1046455" y="763931"/>
                  </a:cubicBezTo>
                  <a:lnTo>
                    <a:pt x="60669" y="763931"/>
                  </a:lnTo>
                  <a:cubicBezTo>
                    <a:pt x="44578" y="763931"/>
                    <a:pt x="29147" y="757539"/>
                    <a:pt x="17769" y="746162"/>
                  </a:cubicBezTo>
                  <a:cubicBezTo>
                    <a:pt x="6392" y="734784"/>
                    <a:pt x="0" y="719353"/>
                    <a:pt x="0" y="703262"/>
                  </a:cubicBezTo>
                  <a:lnTo>
                    <a:pt x="0" y="60669"/>
                  </a:lnTo>
                  <a:cubicBezTo>
                    <a:pt x="0" y="44578"/>
                    <a:pt x="6392" y="29147"/>
                    <a:pt x="17769" y="17769"/>
                  </a:cubicBezTo>
                  <a:cubicBezTo>
                    <a:pt x="29147" y="6392"/>
                    <a:pt x="44578" y="0"/>
                    <a:pt x="60669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542" r="0" b="-542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3982685" y="-2217964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292382" y="1762442"/>
            <a:ext cx="7854929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FFFFFF"/>
                </a:solidFill>
                <a:latin typeface="Montaser Arabic Ultra-Bold"/>
                <a:ea typeface="Montaser Arabic Ultra-Bold"/>
                <a:cs typeface="Montaser Arabic Ultra-Bold"/>
                <a:sym typeface="Montaser Arabic Ultra-Bold"/>
              </a:rPr>
              <a:t>🚨 The Problem Faced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92382" y="2653714"/>
            <a:ext cx="7298788" cy="96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Managing and maintaining tagging compliance across cloud environments was a growing challenge. Some of the key issues we identified: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812432" y="5516979"/>
            <a:ext cx="4651423" cy="846468"/>
          </a:xfrm>
          <a:custGeom>
            <a:avLst/>
            <a:gdLst/>
            <a:ahLst/>
            <a:cxnLst/>
            <a:rect r="r" b="b" t="t" l="l"/>
            <a:pathLst>
              <a:path h="846468" w="4651423">
                <a:moveTo>
                  <a:pt x="0" y="0"/>
                </a:moveTo>
                <a:lnTo>
                  <a:pt x="4651423" y="0"/>
                </a:lnTo>
                <a:lnTo>
                  <a:pt x="4651423" y="846469"/>
                </a:lnTo>
                <a:lnTo>
                  <a:pt x="0" y="846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3988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234158" y="3368126"/>
            <a:ext cx="4836963" cy="846468"/>
          </a:xfrm>
          <a:custGeom>
            <a:avLst/>
            <a:gdLst/>
            <a:ahLst/>
            <a:cxnLst/>
            <a:rect r="r" b="b" t="t" l="l"/>
            <a:pathLst>
              <a:path h="846468" w="4836963">
                <a:moveTo>
                  <a:pt x="0" y="0"/>
                </a:moveTo>
                <a:lnTo>
                  <a:pt x="4836962" y="0"/>
                </a:lnTo>
                <a:lnTo>
                  <a:pt x="4836962" y="846468"/>
                </a:lnTo>
                <a:lnTo>
                  <a:pt x="0" y="846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833164" y="3891557"/>
            <a:ext cx="7718860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Lack of consistent tagging standards across subscriptions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33164" y="4559775"/>
            <a:ext cx="7718860" cy="6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Duplicate or redundant tags with the same purpose but different keys (e.g., Owner vs ownerName)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873665" y="5397747"/>
            <a:ext cx="7718860" cy="6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Missing mandatory tags on critical resources, causing non-compliance in audits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234158" y="6239122"/>
            <a:ext cx="8585867" cy="796880"/>
            <a:chOff x="0" y="0"/>
            <a:chExt cx="5949553" cy="5521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49553" cy="552196"/>
            </a:xfrm>
            <a:custGeom>
              <a:avLst/>
              <a:gdLst/>
              <a:ahLst/>
              <a:cxnLst/>
              <a:rect r="r" b="b" t="t" l="l"/>
              <a:pathLst>
                <a:path h="552196" w="5949553">
                  <a:moveTo>
                    <a:pt x="5746353" y="0"/>
                  </a:moveTo>
                  <a:cubicBezTo>
                    <a:pt x="5858577" y="0"/>
                    <a:pt x="5949553" y="123613"/>
                    <a:pt x="5949553" y="276098"/>
                  </a:cubicBezTo>
                  <a:cubicBezTo>
                    <a:pt x="5949553" y="428583"/>
                    <a:pt x="5858577" y="552196"/>
                    <a:pt x="5746353" y="552196"/>
                  </a:cubicBezTo>
                  <a:lnTo>
                    <a:pt x="203200" y="552196"/>
                  </a:lnTo>
                  <a:cubicBezTo>
                    <a:pt x="90976" y="552196"/>
                    <a:pt x="0" y="428583"/>
                    <a:pt x="0" y="276098"/>
                  </a:cubicBezTo>
                  <a:cubicBezTo>
                    <a:pt x="0" y="12361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832">
                    <a:alpha val="100000"/>
                  </a:srgbClr>
                </a:gs>
                <a:gs pos="100000">
                  <a:srgbClr val="00B1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949553" cy="590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92382" y="7207452"/>
            <a:ext cx="8527643" cy="916328"/>
            <a:chOff x="0" y="0"/>
            <a:chExt cx="5909207" cy="6349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09207" cy="634967"/>
            </a:xfrm>
            <a:custGeom>
              <a:avLst/>
              <a:gdLst/>
              <a:ahLst/>
              <a:cxnLst/>
              <a:rect r="r" b="b" t="t" l="l"/>
              <a:pathLst>
                <a:path h="634967" w="5909207">
                  <a:moveTo>
                    <a:pt x="5706007" y="0"/>
                  </a:moveTo>
                  <a:cubicBezTo>
                    <a:pt x="5818231" y="0"/>
                    <a:pt x="5909207" y="142142"/>
                    <a:pt x="5909207" y="317484"/>
                  </a:cubicBezTo>
                  <a:cubicBezTo>
                    <a:pt x="5909207" y="492825"/>
                    <a:pt x="5818231" y="634967"/>
                    <a:pt x="5706007" y="634967"/>
                  </a:cubicBezTo>
                  <a:lnTo>
                    <a:pt x="203200" y="634967"/>
                  </a:lnTo>
                  <a:cubicBezTo>
                    <a:pt x="90976" y="634967"/>
                    <a:pt x="0" y="492825"/>
                    <a:pt x="0" y="317484"/>
                  </a:cubicBezTo>
                  <a:cubicBezTo>
                    <a:pt x="0" y="142142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832">
                    <a:alpha val="100000"/>
                  </a:srgbClr>
                </a:gs>
                <a:gs pos="100000">
                  <a:srgbClr val="00B1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909207" cy="673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92382" y="8285705"/>
            <a:ext cx="8527643" cy="586480"/>
            <a:chOff x="0" y="0"/>
            <a:chExt cx="5909207" cy="406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09207" cy="406400"/>
            </a:xfrm>
            <a:custGeom>
              <a:avLst/>
              <a:gdLst/>
              <a:ahLst/>
              <a:cxnLst/>
              <a:rect r="r" b="b" t="t" l="l"/>
              <a:pathLst>
                <a:path h="406400" w="5909207">
                  <a:moveTo>
                    <a:pt x="5706007" y="0"/>
                  </a:moveTo>
                  <a:cubicBezTo>
                    <a:pt x="5818231" y="0"/>
                    <a:pt x="5909207" y="90976"/>
                    <a:pt x="5909207" y="203200"/>
                  </a:cubicBezTo>
                  <a:cubicBezTo>
                    <a:pt x="5909207" y="315424"/>
                    <a:pt x="5818231" y="406400"/>
                    <a:pt x="57060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832">
                    <a:alpha val="100000"/>
                  </a:srgbClr>
                </a:gs>
                <a:gs pos="100000">
                  <a:srgbClr val="00B1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90920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8442629" y="6375069"/>
            <a:ext cx="314587" cy="314587"/>
          </a:xfrm>
          <a:custGeom>
            <a:avLst/>
            <a:gdLst/>
            <a:ahLst/>
            <a:cxnLst/>
            <a:rect r="r" b="b" t="t" l="l"/>
            <a:pathLst>
              <a:path h="314587" w="314587">
                <a:moveTo>
                  <a:pt x="0" y="0"/>
                </a:moveTo>
                <a:lnTo>
                  <a:pt x="314587" y="0"/>
                </a:lnTo>
                <a:lnTo>
                  <a:pt x="314587" y="314587"/>
                </a:lnTo>
                <a:lnTo>
                  <a:pt x="0" y="3145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8500854" y="7361915"/>
            <a:ext cx="314587" cy="314587"/>
          </a:xfrm>
          <a:custGeom>
            <a:avLst/>
            <a:gdLst/>
            <a:ahLst/>
            <a:cxnLst/>
            <a:rect r="r" b="b" t="t" l="l"/>
            <a:pathLst>
              <a:path h="314587" w="314587">
                <a:moveTo>
                  <a:pt x="0" y="0"/>
                </a:moveTo>
                <a:lnTo>
                  <a:pt x="314587" y="0"/>
                </a:lnTo>
                <a:lnTo>
                  <a:pt x="314587" y="314587"/>
                </a:lnTo>
                <a:lnTo>
                  <a:pt x="0" y="3145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500854" y="8458685"/>
            <a:ext cx="314587" cy="314587"/>
          </a:xfrm>
          <a:custGeom>
            <a:avLst/>
            <a:gdLst/>
            <a:ahLst/>
            <a:cxnLst/>
            <a:rect r="r" b="b" t="t" l="l"/>
            <a:pathLst>
              <a:path h="314587" w="314587">
                <a:moveTo>
                  <a:pt x="0" y="0"/>
                </a:moveTo>
                <a:lnTo>
                  <a:pt x="314587" y="0"/>
                </a:lnTo>
                <a:lnTo>
                  <a:pt x="314587" y="314587"/>
                </a:lnTo>
                <a:lnTo>
                  <a:pt x="0" y="3145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0812432" y="8448952"/>
            <a:ext cx="4836963" cy="846468"/>
          </a:xfrm>
          <a:custGeom>
            <a:avLst/>
            <a:gdLst/>
            <a:ahLst/>
            <a:cxnLst/>
            <a:rect r="r" b="b" t="t" l="l"/>
            <a:pathLst>
              <a:path h="846468" w="4836963">
                <a:moveTo>
                  <a:pt x="0" y="0"/>
                </a:moveTo>
                <a:lnTo>
                  <a:pt x="4836963" y="0"/>
                </a:lnTo>
                <a:lnTo>
                  <a:pt x="4836963" y="846468"/>
                </a:lnTo>
                <a:lnTo>
                  <a:pt x="0" y="846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8292382" y="5642621"/>
            <a:ext cx="4836963" cy="846468"/>
          </a:xfrm>
          <a:custGeom>
            <a:avLst/>
            <a:gdLst/>
            <a:ahLst/>
            <a:cxnLst/>
            <a:rect r="r" b="b" t="t" l="l"/>
            <a:pathLst>
              <a:path h="846468" w="4836963">
                <a:moveTo>
                  <a:pt x="0" y="0"/>
                </a:moveTo>
                <a:lnTo>
                  <a:pt x="4836963" y="0"/>
                </a:lnTo>
                <a:lnTo>
                  <a:pt x="4836963" y="846468"/>
                </a:lnTo>
                <a:lnTo>
                  <a:pt x="0" y="846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8833164" y="6337502"/>
            <a:ext cx="7549438" cy="6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Manual tagging processes that were error-prone and time-consuming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035520" y="7310619"/>
            <a:ext cx="7314148" cy="6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Difficulty in tracking changes and ensuring rollback capability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891388" y="8384086"/>
            <a:ext cx="5549736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Tag Cleanup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114397" y="9343045"/>
            <a:ext cx="12144903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These issues resulted in low tagging compliance (around 40%) 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and made reporting, cost tracking, and policy enforcement difficult.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01593" y="1797218"/>
            <a:ext cx="12739906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FFFFFF"/>
                </a:solidFill>
                <a:latin typeface="Montaser Arabic Ultra-Bold"/>
                <a:ea typeface="Montaser Arabic Ultra-Bold"/>
                <a:cs typeface="Montaser Arabic Ultra-Bold"/>
                <a:sym typeface="Montaser Arabic Ultra-Bold"/>
              </a:rPr>
              <a:t>🛠️ The Solution: Automated Tagging Script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82685" y="-2217964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832600" y="8721930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662710" y="3000544"/>
            <a:ext cx="7000182" cy="7808695"/>
            <a:chOff x="0" y="0"/>
            <a:chExt cx="1084511" cy="12097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4511" cy="1209771"/>
            </a:xfrm>
            <a:custGeom>
              <a:avLst/>
              <a:gdLst/>
              <a:ahLst/>
              <a:cxnLst/>
              <a:rect r="r" b="b" t="t" l="l"/>
              <a:pathLst>
                <a:path h="1209771" w="1084511">
                  <a:moveTo>
                    <a:pt x="61934" y="0"/>
                  </a:moveTo>
                  <a:lnTo>
                    <a:pt x="1022578" y="0"/>
                  </a:lnTo>
                  <a:cubicBezTo>
                    <a:pt x="1056783" y="0"/>
                    <a:pt x="1084511" y="27729"/>
                    <a:pt x="1084511" y="61934"/>
                  </a:cubicBezTo>
                  <a:lnTo>
                    <a:pt x="1084511" y="1147837"/>
                  </a:lnTo>
                  <a:cubicBezTo>
                    <a:pt x="1084511" y="1182042"/>
                    <a:pt x="1056783" y="1209771"/>
                    <a:pt x="1022578" y="1209771"/>
                  </a:cubicBezTo>
                  <a:lnTo>
                    <a:pt x="61934" y="1209771"/>
                  </a:lnTo>
                  <a:cubicBezTo>
                    <a:pt x="27729" y="1209771"/>
                    <a:pt x="0" y="1182042"/>
                    <a:pt x="0" y="1147837"/>
                  </a:cubicBezTo>
                  <a:lnTo>
                    <a:pt x="0" y="61934"/>
                  </a:lnTo>
                  <a:cubicBezTo>
                    <a:pt x="0" y="27729"/>
                    <a:pt x="27729" y="0"/>
                    <a:pt x="61934" y="0"/>
                  </a:cubicBezTo>
                  <a:close/>
                </a:path>
              </a:pathLst>
            </a:custGeom>
            <a:blipFill>
              <a:blip r:embed="rId5"/>
              <a:stretch>
                <a:fillRect l="-48960" t="0" r="-1846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37596" y="4926733"/>
            <a:ext cx="7077050" cy="41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7"/>
              </a:lnSpc>
            </a:pPr>
            <a:r>
              <a:rPr lang="en-US" sz="2613" b="true">
                <a:solidFill>
                  <a:srgbClr val="04E1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Rollback Capability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7596" y="3182736"/>
            <a:ext cx="7476536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address these challenges, I developed a reusable PowerShell-based tagging script that automated the entire tagging lifecycle — from discovery to remediation and rollback.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6727" y="5322167"/>
            <a:ext cx="7587405" cy="193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</a:p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If at any point a rollback is required (e.g., due to incorrect tagging or customer request), re-run the Update script with the original backup file.</a:t>
            </a:r>
          </a:p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 script will reapply the original tags to all resources, ensuring a quick and safe restoration.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99522" y="1420574"/>
            <a:ext cx="8744478" cy="586480"/>
            <a:chOff x="0" y="0"/>
            <a:chExt cx="6059462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59462" cy="406400"/>
            </a:xfrm>
            <a:custGeom>
              <a:avLst/>
              <a:gdLst/>
              <a:ahLst/>
              <a:cxnLst/>
              <a:rect r="r" b="b" t="t" l="l"/>
              <a:pathLst>
                <a:path h="406400" w="6059462">
                  <a:moveTo>
                    <a:pt x="5856262" y="0"/>
                  </a:moveTo>
                  <a:cubicBezTo>
                    <a:pt x="5968486" y="0"/>
                    <a:pt x="6059462" y="90976"/>
                    <a:pt x="6059462" y="203200"/>
                  </a:cubicBezTo>
                  <a:cubicBezTo>
                    <a:pt x="6059462" y="315424"/>
                    <a:pt x="5968486" y="406400"/>
                    <a:pt x="585626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832">
                    <a:alpha val="100000"/>
                  </a:srgbClr>
                </a:gs>
                <a:gs pos="100000">
                  <a:srgbClr val="00B1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05946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73271" y="4011037"/>
            <a:ext cx="7187919" cy="586480"/>
            <a:chOff x="0" y="0"/>
            <a:chExt cx="4980849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80849" cy="406400"/>
            </a:xfrm>
            <a:custGeom>
              <a:avLst/>
              <a:gdLst/>
              <a:ahLst/>
              <a:cxnLst/>
              <a:rect r="r" b="b" t="t" l="l"/>
              <a:pathLst>
                <a:path h="406400" w="4980849">
                  <a:moveTo>
                    <a:pt x="4777649" y="0"/>
                  </a:moveTo>
                  <a:cubicBezTo>
                    <a:pt x="4889873" y="0"/>
                    <a:pt x="4980849" y="90976"/>
                    <a:pt x="4980849" y="203200"/>
                  </a:cubicBezTo>
                  <a:cubicBezTo>
                    <a:pt x="4980849" y="315424"/>
                    <a:pt x="4889873" y="406400"/>
                    <a:pt x="47776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832">
                    <a:alpha val="100000"/>
                  </a:srgbClr>
                </a:gs>
                <a:gs pos="100000">
                  <a:srgbClr val="00B1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98084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07993" y="1556521"/>
            <a:ext cx="314587" cy="314587"/>
          </a:xfrm>
          <a:custGeom>
            <a:avLst/>
            <a:gdLst/>
            <a:ahLst/>
            <a:cxnLst/>
            <a:rect r="r" b="b" t="t" l="l"/>
            <a:pathLst>
              <a:path h="314587" w="314587">
                <a:moveTo>
                  <a:pt x="0" y="0"/>
                </a:moveTo>
                <a:lnTo>
                  <a:pt x="314587" y="0"/>
                </a:lnTo>
                <a:lnTo>
                  <a:pt x="314587" y="314587"/>
                </a:lnTo>
                <a:lnTo>
                  <a:pt x="0" y="3145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1743" y="4146984"/>
            <a:ext cx="314587" cy="314587"/>
          </a:xfrm>
          <a:custGeom>
            <a:avLst/>
            <a:gdLst/>
            <a:ahLst/>
            <a:cxnLst/>
            <a:rect r="r" b="b" t="t" l="l"/>
            <a:pathLst>
              <a:path h="314587" w="314587">
                <a:moveTo>
                  <a:pt x="0" y="0"/>
                </a:moveTo>
                <a:lnTo>
                  <a:pt x="314586" y="0"/>
                </a:lnTo>
                <a:lnTo>
                  <a:pt x="314586" y="314587"/>
                </a:lnTo>
                <a:lnTo>
                  <a:pt x="0" y="3145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574661" y="-3291149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3"/>
                </a:lnTo>
                <a:lnTo>
                  <a:pt x="0" y="44192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580419" y="-687047"/>
            <a:ext cx="7484327" cy="5633875"/>
            <a:chOff x="0" y="0"/>
            <a:chExt cx="1159518" cy="8728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9518" cy="872835"/>
            </a:xfrm>
            <a:custGeom>
              <a:avLst/>
              <a:gdLst/>
              <a:ahLst/>
              <a:cxnLst/>
              <a:rect r="r" b="b" t="t" l="l"/>
              <a:pathLst>
                <a:path h="872835" w="1159518">
                  <a:moveTo>
                    <a:pt x="37239" y="0"/>
                  </a:moveTo>
                  <a:lnTo>
                    <a:pt x="1122279" y="0"/>
                  </a:lnTo>
                  <a:cubicBezTo>
                    <a:pt x="1132156" y="0"/>
                    <a:pt x="1141627" y="3923"/>
                    <a:pt x="1148611" y="10907"/>
                  </a:cubicBezTo>
                  <a:cubicBezTo>
                    <a:pt x="1155595" y="17891"/>
                    <a:pt x="1159518" y="27363"/>
                    <a:pt x="1159518" y="37239"/>
                  </a:cubicBezTo>
                  <a:lnTo>
                    <a:pt x="1159518" y="835596"/>
                  </a:lnTo>
                  <a:cubicBezTo>
                    <a:pt x="1159518" y="856162"/>
                    <a:pt x="1142846" y="872835"/>
                    <a:pt x="1122279" y="872835"/>
                  </a:cubicBezTo>
                  <a:lnTo>
                    <a:pt x="37239" y="872835"/>
                  </a:lnTo>
                  <a:cubicBezTo>
                    <a:pt x="27363" y="872835"/>
                    <a:pt x="17891" y="868911"/>
                    <a:pt x="10907" y="861928"/>
                  </a:cubicBezTo>
                  <a:cubicBezTo>
                    <a:pt x="3923" y="854944"/>
                    <a:pt x="0" y="845472"/>
                    <a:pt x="0" y="835596"/>
                  </a:cubicBezTo>
                  <a:lnTo>
                    <a:pt x="0" y="37239"/>
                  </a:lnTo>
                  <a:cubicBezTo>
                    <a:pt x="0" y="27363"/>
                    <a:pt x="3923" y="17891"/>
                    <a:pt x="10907" y="10907"/>
                  </a:cubicBezTo>
                  <a:cubicBezTo>
                    <a:pt x="17891" y="3923"/>
                    <a:pt x="27363" y="0"/>
                    <a:pt x="37239" y="0"/>
                  </a:cubicBezTo>
                  <a:close/>
                </a:path>
              </a:pathLst>
            </a:custGeom>
            <a:blipFill>
              <a:blip r:embed="rId7"/>
              <a:stretch>
                <a:fillRect l="-15129" t="0" r="-1869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580419" y="4946828"/>
            <a:ext cx="7484327" cy="5633875"/>
            <a:chOff x="0" y="0"/>
            <a:chExt cx="1159518" cy="872835"/>
          </a:xfrm>
        </p:grpSpPr>
        <p:sp>
          <p:nvSpPr>
            <p:cNvPr name="Freeform 15" id="15"/>
            <p:cNvSpPr/>
            <p:nvPr/>
          </p:nvSpPr>
          <p:spPr>
            <a:xfrm flipH="true" flipV="false" rot="0">
              <a:off x="0" y="0"/>
              <a:ext cx="1159518" cy="872835"/>
            </a:xfrm>
            <a:custGeom>
              <a:avLst/>
              <a:gdLst/>
              <a:ahLst/>
              <a:cxnLst/>
              <a:rect r="r" b="b" t="t" l="l"/>
              <a:pathLst>
                <a:path h="872835" w="1159518">
                  <a:moveTo>
                    <a:pt x="1122279" y="0"/>
                  </a:moveTo>
                  <a:lnTo>
                    <a:pt x="37239" y="0"/>
                  </a:lnTo>
                  <a:cubicBezTo>
                    <a:pt x="27363" y="0"/>
                    <a:pt x="17891" y="3923"/>
                    <a:pt x="10907" y="10907"/>
                  </a:cubicBezTo>
                  <a:cubicBezTo>
                    <a:pt x="3923" y="17891"/>
                    <a:pt x="0" y="27363"/>
                    <a:pt x="0" y="37239"/>
                  </a:cubicBezTo>
                  <a:lnTo>
                    <a:pt x="0" y="835596"/>
                  </a:lnTo>
                  <a:cubicBezTo>
                    <a:pt x="0" y="856162"/>
                    <a:pt x="16673" y="872835"/>
                    <a:pt x="37239" y="872835"/>
                  </a:cubicBezTo>
                  <a:lnTo>
                    <a:pt x="1122279" y="872835"/>
                  </a:lnTo>
                  <a:cubicBezTo>
                    <a:pt x="1132156" y="872835"/>
                    <a:pt x="1141627" y="868911"/>
                    <a:pt x="1148611" y="861928"/>
                  </a:cubicBezTo>
                  <a:cubicBezTo>
                    <a:pt x="1155595" y="854944"/>
                    <a:pt x="1159518" y="845472"/>
                    <a:pt x="1159518" y="835596"/>
                  </a:cubicBezTo>
                  <a:lnTo>
                    <a:pt x="1159518" y="37239"/>
                  </a:lnTo>
                  <a:cubicBezTo>
                    <a:pt x="1159518" y="27363"/>
                    <a:pt x="1155595" y="17891"/>
                    <a:pt x="1148611" y="10907"/>
                  </a:cubicBezTo>
                  <a:cubicBezTo>
                    <a:pt x="1141627" y="3923"/>
                    <a:pt x="1132156" y="0"/>
                    <a:pt x="1122279" y="0"/>
                  </a:cubicBezTo>
                  <a:close/>
                </a:path>
              </a:pathLst>
            </a:custGeom>
            <a:blipFill>
              <a:blip r:embed="rId8"/>
              <a:stretch>
                <a:fillRect l="-6386" t="0" r="-6386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-832600" y="8721930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99522" y="459621"/>
            <a:ext cx="82259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FFFFFF"/>
                </a:solidFill>
                <a:latin typeface="Montaser Arabic Ultra-Bold"/>
                <a:ea typeface="Montaser Arabic Ultra-Bold"/>
                <a:cs typeface="Montaser Arabic Ultra-Bold"/>
                <a:sym typeface="Montaser Arabic Ultra-Bold"/>
              </a:rPr>
              <a:t>Tagging Solution – Three-Step Process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99522" y="2226687"/>
            <a:ext cx="17302905" cy="161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Run the first script (TagBackup.ps1) to capture all existing tags from the</a:t>
            </a:r>
          </a:p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environment.</a:t>
            </a:r>
          </a:p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script exports all tag details of resources and resource groups into</a:t>
            </a:r>
          </a:p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an output file.</a:t>
            </a:r>
          </a:p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file acts as a backup and reference point.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9522" y="4724321"/>
            <a:ext cx="13702413" cy="161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Share the output file with the FinOps/CSR team for validation.</a:t>
            </a:r>
          </a:p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team will:</a:t>
            </a:r>
          </a:p>
          <a:p>
            <a:pPr algn="just" marL="431801" indent="-215900" lvl="1">
              <a:lnSpc>
                <a:spcPts val="2600"/>
              </a:lnSpc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Fill in missing mandatory tags</a:t>
            </a:r>
          </a:p>
          <a:p>
            <a:pPr algn="just" marL="431801" indent="-215900" lvl="1">
              <a:lnSpc>
                <a:spcPts val="2600"/>
              </a:lnSpc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Correct duplicate or redundant tags</a:t>
            </a:r>
          </a:p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same file, once updated, will be used as the input to the second script.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2419497" y="4174284"/>
            <a:ext cx="4836963" cy="846468"/>
          </a:xfrm>
          <a:custGeom>
            <a:avLst/>
            <a:gdLst/>
            <a:ahLst/>
            <a:cxnLst/>
            <a:rect r="r" b="b" t="t" l="l"/>
            <a:pathLst>
              <a:path h="846468" w="4836963">
                <a:moveTo>
                  <a:pt x="0" y="0"/>
                </a:moveTo>
                <a:lnTo>
                  <a:pt x="4836962" y="0"/>
                </a:lnTo>
                <a:lnTo>
                  <a:pt x="4836962" y="846468"/>
                </a:lnTo>
                <a:lnTo>
                  <a:pt x="0" y="846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26757" y="997340"/>
            <a:ext cx="4836963" cy="846468"/>
          </a:xfrm>
          <a:custGeom>
            <a:avLst/>
            <a:gdLst/>
            <a:ahLst/>
            <a:cxnLst/>
            <a:rect r="r" b="b" t="t" l="l"/>
            <a:pathLst>
              <a:path h="846468" w="4836963">
                <a:moveTo>
                  <a:pt x="0" y="0"/>
                </a:moveTo>
                <a:lnTo>
                  <a:pt x="4836963" y="0"/>
                </a:lnTo>
                <a:lnTo>
                  <a:pt x="4836963" y="846468"/>
                </a:lnTo>
                <a:lnTo>
                  <a:pt x="0" y="846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98528" y="1509429"/>
            <a:ext cx="5549736" cy="38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7"/>
              </a:lnSpc>
            </a:pPr>
            <a:r>
              <a:rPr lang="en-US" sz="231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Tag Backup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2277" y="4099893"/>
            <a:ext cx="5549736" cy="38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7"/>
              </a:lnSpc>
            </a:pPr>
            <a:r>
              <a:rPr lang="en-US" sz="231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Validation and Update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73271" y="6622971"/>
            <a:ext cx="7187919" cy="586480"/>
            <a:chOff x="0" y="0"/>
            <a:chExt cx="4980849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80849" cy="406400"/>
            </a:xfrm>
            <a:custGeom>
              <a:avLst/>
              <a:gdLst/>
              <a:ahLst/>
              <a:cxnLst/>
              <a:rect r="r" b="b" t="t" l="l"/>
              <a:pathLst>
                <a:path h="406400" w="4980849">
                  <a:moveTo>
                    <a:pt x="4777649" y="0"/>
                  </a:moveTo>
                  <a:cubicBezTo>
                    <a:pt x="4889873" y="0"/>
                    <a:pt x="4980849" y="90976"/>
                    <a:pt x="4980849" y="203200"/>
                  </a:cubicBezTo>
                  <a:cubicBezTo>
                    <a:pt x="4980849" y="315424"/>
                    <a:pt x="4889873" y="406400"/>
                    <a:pt x="47776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832">
                    <a:alpha val="100000"/>
                  </a:srgbClr>
                </a:gs>
                <a:gs pos="100000">
                  <a:srgbClr val="00B1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98084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481743" y="6758918"/>
            <a:ext cx="314587" cy="314587"/>
          </a:xfrm>
          <a:custGeom>
            <a:avLst/>
            <a:gdLst/>
            <a:ahLst/>
            <a:cxnLst/>
            <a:rect r="r" b="b" t="t" l="l"/>
            <a:pathLst>
              <a:path h="314587" w="314587">
                <a:moveTo>
                  <a:pt x="0" y="0"/>
                </a:moveTo>
                <a:lnTo>
                  <a:pt x="314586" y="0"/>
                </a:lnTo>
                <a:lnTo>
                  <a:pt x="314586" y="314587"/>
                </a:lnTo>
                <a:lnTo>
                  <a:pt x="0" y="3145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73271" y="7360429"/>
            <a:ext cx="10180897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Run the second script (TagUpdate.ps1) using the updated file.</a:t>
            </a:r>
          </a:p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 script will apply all tags as per the provided data.</a:t>
            </a:r>
          </a:p>
          <a:p>
            <a:pPr algn="just" marL="431801" indent="-215900" lvl="1">
              <a:lnSpc>
                <a:spcPts val="26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This step ensures uniform, validated, and compliant tagging across the environment.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2419497" y="6786217"/>
            <a:ext cx="4836963" cy="846468"/>
          </a:xfrm>
          <a:custGeom>
            <a:avLst/>
            <a:gdLst/>
            <a:ahLst/>
            <a:cxnLst/>
            <a:rect r="r" b="b" t="t" l="l"/>
            <a:pathLst>
              <a:path h="846468" w="4836963">
                <a:moveTo>
                  <a:pt x="0" y="0"/>
                </a:moveTo>
                <a:lnTo>
                  <a:pt x="4836962" y="0"/>
                </a:lnTo>
                <a:lnTo>
                  <a:pt x="4836962" y="846469"/>
                </a:lnTo>
                <a:lnTo>
                  <a:pt x="0" y="846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72277" y="6711827"/>
            <a:ext cx="5549736" cy="38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7"/>
              </a:lnSpc>
            </a:pPr>
            <a:r>
              <a:rPr lang="en-US" sz="231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Apply Tags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9252" y="6194923"/>
            <a:ext cx="7384746" cy="1658486"/>
            <a:chOff x="0" y="0"/>
            <a:chExt cx="5117239" cy="11492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7239" cy="1149243"/>
            </a:xfrm>
            <a:custGeom>
              <a:avLst/>
              <a:gdLst/>
              <a:ahLst/>
              <a:cxnLst/>
              <a:rect r="r" b="b" t="t" l="l"/>
              <a:pathLst>
                <a:path h="1149243" w="5117239">
                  <a:moveTo>
                    <a:pt x="4914039" y="0"/>
                  </a:moveTo>
                  <a:cubicBezTo>
                    <a:pt x="5026263" y="0"/>
                    <a:pt x="5117239" y="257267"/>
                    <a:pt x="5117239" y="574622"/>
                  </a:cubicBezTo>
                  <a:cubicBezTo>
                    <a:pt x="5117239" y="891976"/>
                    <a:pt x="5026263" y="1149243"/>
                    <a:pt x="4914039" y="1149243"/>
                  </a:cubicBezTo>
                  <a:lnTo>
                    <a:pt x="203200" y="1149243"/>
                  </a:lnTo>
                  <a:cubicBezTo>
                    <a:pt x="90976" y="1149243"/>
                    <a:pt x="0" y="891976"/>
                    <a:pt x="0" y="574622"/>
                  </a:cubicBezTo>
                  <a:cubicBezTo>
                    <a:pt x="0" y="257267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832">
                    <a:alpha val="100000"/>
                  </a:srgbClr>
                </a:gs>
                <a:gs pos="100000">
                  <a:srgbClr val="00B1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17239" cy="1187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46067" y="6488009"/>
            <a:ext cx="314587" cy="314587"/>
          </a:xfrm>
          <a:custGeom>
            <a:avLst/>
            <a:gdLst/>
            <a:ahLst/>
            <a:cxnLst/>
            <a:rect r="r" b="b" t="t" l="l"/>
            <a:pathLst>
              <a:path h="314587" w="314587">
                <a:moveTo>
                  <a:pt x="0" y="0"/>
                </a:moveTo>
                <a:lnTo>
                  <a:pt x="314587" y="0"/>
                </a:lnTo>
                <a:lnTo>
                  <a:pt x="314587" y="314586"/>
                </a:lnTo>
                <a:lnTo>
                  <a:pt x="0" y="3145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37596" y="3000544"/>
            <a:ext cx="7146138" cy="2359305"/>
            <a:chOff x="0" y="0"/>
            <a:chExt cx="1107124" cy="3655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7124" cy="365518"/>
            </a:xfrm>
            <a:custGeom>
              <a:avLst/>
              <a:gdLst/>
              <a:ahLst/>
              <a:cxnLst/>
              <a:rect r="r" b="b" t="t" l="l"/>
              <a:pathLst>
                <a:path h="365518" w="1107124">
                  <a:moveTo>
                    <a:pt x="39001" y="0"/>
                  </a:moveTo>
                  <a:lnTo>
                    <a:pt x="1068122" y="0"/>
                  </a:lnTo>
                  <a:cubicBezTo>
                    <a:pt x="1089662" y="0"/>
                    <a:pt x="1107124" y="17462"/>
                    <a:pt x="1107124" y="39001"/>
                  </a:cubicBezTo>
                  <a:lnTo>
                    <a:pt x="1107124" y="326517"/>
                  </a:lnTo>
                  <a:cubicBezTo>
                    <a:pt x="1107124" y="336860"/>
                    <a:pt x="1103015" y="346781"/>
                    <a:pt x="1095700" y="354095"/>
                  </a:cubicBezTo>
                  <a:cubicBezTo>
                    <a:pt x="1088386" y="361409"/>
                    <a:pt x="1078466" y="365518"/>
                    <a:pt x="1068122" y="365518"/>
                  </a:cubicBezTo>
                  <a:lnTo>
                    <a:pt x="39001" y="365518"/>
                  </a:lnTo>
                  <a:cubicBezTo>
                    <a:pt x="28658" y="365518"/>
                    <a:pt x="18737" y="361409"/>
                    <a:pt x="11423" y="354095"/>
                  </a:cubicBezTo>
                  <a:cubicBezTo>
                    <a:pt x="4109" y="346781"/>
                    <a:pt x="0" y="336860"/>
                    <a:pt x="0" y="326517"/>
                  </a:cubicBezTo>
                  <a:lnTo>
                    <a:pt x="0" y="39001"/>
                  </a:lnTo>
                  <a:cubicBezTo>
                    <a:pt x="0" y="28658"/>
                    <a:pt x="4109" y="18737"/>
                    <a:pt x="11423" y="11423"/>
                  </a:cubicBezTo>
                  <a:cubicBezTo>
                    <a:pt x="18737" y="4109"/>
                    <a:pt x="28658" y="0"/>
                    <a:pt x="39001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2052" r="0" b="-6974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64105" y="5873514"/>
            <a:ext cx="7298788" cy="4826045"/>
            <a:chOff x="0" y="0"/>
            <a:chExt cx="1130773" cy="747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0773" cy="747681"/>
            </a:xfrm>
            <a:custGeom>
              <a:avLst/>
              <a:gdLst/>
              <a:ahLst/>
              <a:cxnLst/>
              <a:rect r="r" b="b" t="t" l="l"/>
              <a:pathLst>
                <a:path h="747681" w="1130773">
                  <a:moveTo>
                    <a:pt x="38186" y="0"/>
                  </a:moveTo>
                  <a:lnTo>
                    <a:pt x="1092588" y="0"/>
                  </a:lnTo>
                  <a:cubicBezTo>
                    <a:pt x="1113677" y="0"/>
                    <a:pt x="1130773" y="17096"/>
                    <a:pt x="1130773" y="38186"/>
                  </a:cubicBezTo>
                  <a:lnTo>
                    <a:pt x="1130773" y="709495"/>
                  </a:lnTo>
                  <a:cubicBezTo>
                    <a:pt x="1130773" y="730584"/>
                    <a:pt x="1113677" y="747681"/>
                    <a:pt x="1092588" y="747681"/>
                  </a:cubicBezTo>
                  <a:lnTo>
                    <a:pt x="38186" y="747681"/>
                  </a:lnTo>
                  <a:cubicBezTo>
                    <a:pt x="17096" y="747681"/>
                    <a:pt x="0" y="730584"/>
                    <a:pt x="0" y="709495"/>
                  </a:cubicBezTo>
                  <a:lnTo>
                    <a:pt x="0" y="38186"/>
                  </a:lnTo>
                  <a:cubicBezTo>
                    <a:pt x="0" y="17096"/>
                    <a:pt x="17096" y="0"/>
                    <a:pt x="38186" y="0"/>
                  </a:cubicBezTo>
                  <a:close/>
                </a:path>
              </a:pathLst>
            </a:custGeom>
            <a:blipFill>
              <a:blip r:embed="rId6"/>
              <a:stretch>
                <a:fillRect l="-19684" t="-11457" r="0" b="-9214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3982685" y="-2217964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832600" y="8721930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364105" y="1912006"/>
            <a:ext cx="5690303" cy="83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  <a:spcBef>
                <a:spcPct val="0"/>
              </a:spcBef>
            </a:pPr>
            <a:r>
              <a:rPr lang="en-US" sz="4903" b="true">
                <a:solidFill>
                  <a:srgbClr val="FFFFFF"/>
                </a:solidFill>
                <a:latin typeface="Montaser Arabic Ultra-Bold"/>
                <a:ea typeface="Montaser Arabic Ultra-Bold"/>
                <a:cs typeface="Montaser Arabic Ultra-Bold"/>
                <a:sym typeface="Montaser Arabic Ultra-Bold"/>
              </a:rPr>
              <a:t>Benefits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64105" y="2559050"/>
            <a:ext cx="8156847" cy="296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0"/>
              </a:lnSpc>
            </a:pPr>
          </a:p>
          <a:p>
            <a:pPr algn="just" marL="496571" indent="-248285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Fully automated and repeatable tagging process</a:t>
            </a:r>
          </a:p>
          <a:p>
            <a:pPr algn="just" marL="496571" indent="-248285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Improves compliance and simplifies audits</a:t>
            </a:r>
          </a:p>
          <a:p>
            <a:pPr algn="just" marL="496571" indent="-248285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Reduces manual errors and inconsistencies</a:t>
            </a:r>
          </a:p>
          <a:p>
            <a:pPr algn="just" marL="496571" indent="-248285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Provides a controlled, trackable way to manage tag   changes</a:t>
            </a:r>
          </a:p>
          <a:p>
            <a:pPr algn="just" marL="496571" indent="-248285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 be implemented in any subscription/account without modification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657396" y="7337138"/>
            <a:ext cx="4486604" cy="785156"/>
          </a:xfrm>
          <a:custGeom>
            <a:avLst/>
            <a:gdLst/>
            <a:ahLst/>
            <a:cxnLst/>
            <a:rect r="r" b="b" t="t" l="l"/>
            <a:pathLst>
              <a:path h="785156" w="4486604">
                <a:moveTo>
                  <a:pt x="0" y="0"/>
                </a:moveTo>
                <a:lnTo>
                  <a:pt x="4486604" y="0"/>
                </a:lnTo>
                <a:lnTo>
                  <a:pt x="4486604" y="785156"/>
                </a:lnTo>
                <a:lnTo>
                  <a:pt x="0" y="7851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37596" y="5959484"/>
            <a:ext cx="4486604" cy="785156"/>
          </a:xfrm>
          <a:custGeom>
            <a:avLst/>
            <a:gdLst/>
            <a:ahLst/>
            <a:cxnLst/>
            <a:rect r="r" b="b" t="t" l="l"/>
            <a:pathLst>
              <a:path h="785156" w="4486604">
                <a:moveTo>
                  <a:pt x="0" y="0"/>
                </a:moveTo>
                <a:lnTo>
                  <a:pt x="4486603" y="0"/>
                </a:lnTo>
                <a:lnTo>
                  <a:pt x="4486603" y="785156"/>
                </a:lnTo>
                <a:lnTo>
                  <a:pt x="0" y="7851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036602" y="6440917"/>
            <a:ext cx="6547132" cy="114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7"/>
              </a:lnSpc>
            </a:pPr>
            <a:r>
              <a:rPr lang="en-US" sz="231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After implementing this process/script, tagging compliance rose to over 95%, with minimal manual intervention.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461" t="-15029" r="0" b="-1817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071988" cy="10287000"/>
            <a:chOff x="0" y="0"/>
            <a:chExt cx="3179454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79454" cy="2709333"/>
            </a:xfrm>
            <a:custGeom>
              <a:avLst/>
              <a:gdLst/>
              <a:ahLst/>
              <a:cxnLst/>
              <a:rect r="r" b="b" t="t" l="l"/>
              <a:pathLst>
                <a:path h="2709333" w="3179454">
                  <a:moveTo>
                    <a:pt x="0" y="0"/>
                  </a:moveTo>
                  <a:lnTo>
                    <a:pt x="3179454" y="0"/>
                  </a:lnTo>
                  <a:lnTo>
                    <a:pt x="3179454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100000"/>
                  </a:srgbClr>
                </a:gs>
                <a:gs pos="66667">
                  <a:srgbClr val="000000">
                    <a:alpha val="82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179454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306077" y="7443744"/>
            <a:ext cx="5290838" cy="840036"/>
            <a:chOff x="0" y="0"/>
            <a:chExt cx="2559647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647" cy="406400"/>
            </a:xfrm>
            <a:custGeom>
              <a:avLst/>
              <a:gdLst/>
              <a:ahLst/>
              <a:cxnLst/>
              <a:rect r="r" b="b" t="t" l="l"/>
              <a:pathLst>
                <a:path h="406400" w="2559647">
                  <a:moveTo>
                    <a:pt x="2356447" y="0"/>
                  </a:moveTo>
                  <a:cubicBezTo>
                    <a:pt x="2468671" y="0"/>
                    <a:pt x="2559647" y="90976"/>
                    <a:pt x="2559647" y="203200"/>
                  </a:cubicBezTo>
                  <a:cubicBezTo>
                    <a:pt x="2559647" y="315424"/>
                    <a:pt x="2468671" y="406400"/>
                    <a:pt x="235644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832">
                    <a:alpha val="100000"/>
                  </a:srgbClr>
                </a:gs>
                <a:gs pos="100000">
                  <a:srgbClr val="00B1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55964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37596" y="7443744"/>
            <a:ext cx="3483091" cy="840036"/>
            <a:chOff x="0" y="0"/>
            <a:chExt cx="168508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5080" cy="406400"/>
            </a:xfrm>
            <a:custGeom>
              <a:avLst/>
              <a:gdLst/>
              <a:ahLst/>
              <a:cxnLst/>
              <a:rect r="r" b="b" t="t" l="l"/>
              <a:pathLst>
                <a:path h="406400" w="1685080">
                  <a:moveTo>
                    <a:pt x="1481880" y="0"/>
                  </a:moveTo>
                  <a:cubicBezTo>
                    <a:pt x="1594104" y="0"/>
                    <a:pt x="1685080" y="90976"/>
                    <a:pt x="1685080" y="203200"/>
                  </a:cubicBezTo>
                  <a:cubicBezTo>
                    <a:pt x="1685080" y="315424"/>
                    <a:pt x="1594104" y="406400"/>
                    <a:pt x="148188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832">
                    <a:alpha val="100000"/>
                  </a:srgbClr>
                </a:gs>
                <a:gs pos="100000">
                  <a:srgbClr val="00B1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8508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832600" y="8721930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7" y="0"/>
                </a:lnTo>
                <a:lnTo>
                  <a:pt x="5138677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37596" y="3127513"/>
            <a:ext cx="7097411" cy="1577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69"/>
              </a:lnSpc>
              <a:spcBef>
                <a:spcPct val="0"/>
              </a:spcBef>
            </a:pPr>
            <a:r>
              <a:rPr lang="en-US" sz="9264" b="true">
                <a:solidFill>
                  <a:srgbClr val="FFFFFF"/>
                </a:solidFill>
                <a:latin typeface="Montaser Arabic Ultra-Bold"/>
                <a:ea typeface="Montaser Arabic Ultra-Bold"/>
                <a:cs typeface="Montaser Arabic Ultra-Bold"/>
                <a:sym typeface="Montaser Arabic Ultra-Bold"/>
              </a:rPr>
              <a:t>Thank You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7596" y="5124450"/>
            <a:ext cx="8685307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believe this tagging automation will significantly enhance consistency and governance in any Azure environment.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574661" y="-2875072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033327" y="4495800"/>
            <a:ext cx="5138677" cy="4419262"/>
          </a:xfrm>
          <a:custGeom>
            <a:avLst/>
            <a:gdLst/>
            <a:ahLst/>
            <a:cxnLst/>
            <a:rect r="r" b="b" t="t" l="l"/>
            <a:pathLst>
              <a:path h="4419262" w="5138677">
                <a:moveTo>
                  <a:pt x="0" y="0"/>
                </a:moveTo>
                <a:lnTo>
                  <a:pt x="5138678" y="0"/>
                </a:lnTo>
                <a:lnTo>
                  <a:pt x="5138678" y="4419262"/>
                </a:lnTo>
                <a:lnTo>
                  <a:pt x="0" y="4419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759952" y="7835633"/>
            <a:ext cx="4836963" cy="846468"/>
          </a:xfrm>
          <a:custGeom>
            <a:avLst/>
            <a:gdLst/>
            <a:ahLst/>
            <a:cxnLst/>
            <a:rect r="r" b="b" t="t" l="l"/>
            <a:pathLst>
              <a:path h="846468" w="4836963">
                <a:moveTo>
                  <a:pt x="0" y="0"/>
                </a:moveTo>
                <a:lnTo>
                  <a:pt x="4836962" y="0"/>
                </a:lnTo>
                <a:lnTo>
                  <a:pt x="4836962" y="846469"/>
                </a:lnTo>
                <a:lnTo>
                  <a:pt x="0" y="8464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0422" y="7177785"/>
            <a:ext cx="3039530" cy="531918"/>
          </a:xfrm>
          <a:custGeom>
            <a:avLst/>
            <a:gdLst/>
            <a:ahLst/>
            <a:cxnLst/>
            <a:rect r="r" b="b" t="t" l="l"/>
            <a:pathLst>
              <a:path h="531918" w="3039530">
                <a:moveTo>
                  <a:pt x="0" y="0"/>
                </a:moveTo>
                <a:lnTo>
                  <a:pt x="3039530" y="0"/>
                </a:lnTo>
                <a:lnTo>
                  <a:pt x="3039530" y="531917"/>
                </a:lnTo>
                <a:lnTo>
                  <a:pt x="0" y="531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19332" y="7628865"/>
            <a:ext cx="3324699" cy="44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8"/>
              </a:lnSpc>
            </a:pPr>
            <a:r>
              <a:rPr lang="en-US" sz="27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Presented By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58898" y="7628828"/>
            <a:ext cx="4161789" cy="441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8"/>
              </a:lnSpc>
            </a:pPr>
            <a:r>
              <a:rPr lang="en-US" sz="275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Amit Gupta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DAGqWCETX1Q</dc:identifier>
  <dcterms:modified xsi:type="dcterms:W3CDTF">2011-08-01T06:04:30Z</dcterms:modified>
  <cp:revision>1</cp:revision>
  <dc:title>Azure Tagging</dc:title>
</cp:coreProperties>
</file>