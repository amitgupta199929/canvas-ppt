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2" Target="../media/image3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11" Target="../media/image50.png" Type="http://schemas.openxmlformats.org/officeDocument/2006/relationships/image"/><Relationship Id="rId12" Target="../media/image51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media/image42.png" Type="http://schemas.openxmlformats.org/officeDocument/2006/relationships/image"/><Relationship Id="rId20" Target="../media/image59.svg" Type="http://schemas.openxmlformats.org/officeDocument/2006/relationships/image"/><Relationship Id="rId21" Target="../media/image60.png" Type="http://schemas.openxmlformats.org/officeDocument/2006/relationships/image"/><Relationship Id="rId22" Target="../media/image61.svg" Type="http://schemas.openxmlformats.org/officeDocument/2006/relationships/image"/><Relationship Id="rId3" Target="../media/image43.svg" Type="http://schemas.openxmlformats.org/officeDocument/2006/relationships/image"/><Relationship Id="rId4" Target="../media/image3.pn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svg" Type="http://schemas.openxmlformats.org/officeDocument/2006/relationships/image"/><Relationship Id="rId11" Target="../media/image70.png" Type="http://schemas.openxmlformats.org/officeDocument/2006/relationships/image"/><Relationship Id="rId12" Target="../media/image71.svg" Type="http://schemas.openxmlformats.org/officeDocument/2006/relationships/image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3.pn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svg" Type="http://schemas.openxmlformats.org/officeDocument/2006/relationships/image"/><Relationship Id="rId12" Target="../media/image82.png" Type="http://schemas.openxmlformats.org/officeDocument/2006/relationships/image"/><Relationship Id="rId13" Target="../media/image83.svg" Type="http://schemas.openxmlformats.org/officeDocument/2006/relationships/image"/><Relationship Id="rId2" Target="../media/image72.png" Type="http://schemas.openxmlformats.org/officeDocument/2006/relationships/image"/><Relationship Id="rId3" Target="../media/image73.sv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svg" Type="http://schemas.openxmlformats.org/officeDocument/2006/relationships/image"/><Relationship Id="rId12" Target="../media/image92.png" Type="http://schemas.openxmlformats.org/officeDocument/2006/relationships/image"/><Relationship Id="rId13" Target="../media/image93.sv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Relationship Id="rId8" Target="../media/image88.png" Type="http://schemas.openxmlformats.org/officeDocument/2006/relationships/image"/><Relationship Id="rId9" Target="../media/image8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103.svg" Type="http://schemas.openxmlformats.org/officeDocument/2006/relationships/image"/><Relationship Id="rId12" Target="../media/image104.png" Type="http://schemas.openxmlformats.org/officeDocument/2006/relationships/image"/><Relationship Id="rId13" Target="../media/image105.svg" Type="http://schemas.openxmlformats.org/officeDocument/2006/relationships/image"/><Relationship Id="rId14" Target="../media/image106.png" Type="http://schemas.openxmlformats.org/officeDocument/2006/relationships/image"/><Relationship Id="rId15" Target="../media/image107.svg" Type="http://schemas.openxmlformats.org/officeDocument/2006/relationships/image"/><Relationship Id="rId16" Target="../media/image108.png" Type="http://schemas.openxmlformats.org/officeDocument/2006/relationships/image"/><Relationship Id="rId17" Target="../media/image109.svg" Type="http://schemas.openxmlformats.org/officeDocument/2006/relationships/image"/><Relationship Id="rId18" Target="../media/image110.png" Type="http://schemas.openxmlformats.org/officeDocument/2006/relationships/image"/><Relationship Id="rId19" Target="../media/image111.svg" Type="http://schemas.openxmlformats.org/officeDocument/2006/relationships/image"/><Relationship Id="rId2" Target="../media/image94.png" Type="http://schemas.openxmlformats.org/officeDocument/2006/relationships/image"/><Relationship Id="rId20" Target="../media/image112.png" Type="http://schemas.openxmlformats.org/officeDocument/2006/relationships/image"/><Relationship Id="rId21" Target="../media/image113.svg" Type="http://schemas.openxmlformats.org/officeDocument/2006/relationships/image"/><Relationship Id="rId22" Target="../media/image114.png" Type="http://schemas.openxmlformats.org/officeDocument/2006/relationships/image"/><Relationship Id="rId23" Target="../media/image115.svg" Type="http://schemas.openxmlformats.org/officeDocument/2006/relationships/image"/><Relationship Id="rId24" Target="../media/image116.png" Type="http://schemas.openxmlformats.org/officeDocument/2006/relationships/image"/><Relationship Id="rId25" Target="../media/image117.svg" Type="http://schemas.openxmlformats.org/officeDocument/2006/relationships/image"/><Relationship Id="rId3" Target="../media/image95.sv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svg" Type="http://schemas.openxmlformats.org/officeDocument/2006/relationships/image"/><Relationship Id="rId8" Target="../media/image100.png" Type="http://schemas.openxmlformats.org/officeDocument/2006/relationships/image"/><Relationship Id="rId9" Target="../media/image10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90290">
            <a:off x="4727284" y="3314700"/>
            <a:ext cx="11734103" cy="4620303"/>
          </a:xfrm>
          <a:custGeom>
            <a:avLst/>
            <a:gdLst/>
            <a:ahLst/>
            <a:cxnLst/>
            <a:rect r="r" b="b" t="t" l="l"/>
            <a:pathLst>
              <a:path h="4620303" w="11734103">
                <a:moveTo>
                  <a:pt x="0" y="0"/>
                </a:moveTo>
                <a:lnTo>
                  <a:pt x="11734103" y="0"/>
                </a:lnTo>
                <a:lnTo>
                  <a:pt x="11734103" y="4620303"/>
                </a:lnTo>
                <a:lnTo>
                  <a:pt x="0" y="4620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5545777" y="6286500"/>
            <a:ext cx="0" cy="2285792"/>
          </a:xfrm>
          <a:prstGeom prst="line">
            <a:avLst/>
          </a:prstGeom>
          <a:ln cap="rnd" w="19050">
            <a:solidFill>
              <a:srgbClr val="1575D5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" id="4"/>
          <p:cNvSpPr/>
          <p:nvPr/>
        </p:nvSpPr>
        <p:spPr>
          <a:xfrm>
            <a:off x="9351569" y="1219200"/>
            <a:ext cx="0" cy="2499542"/>
          </a:xfrm>
          <a:prstGeom prst="line">
            <a:avLst/>
          </a:prstGeom>
          <a:ln cap="rnd" w="19050">
            <a:solidFill>
              <a:srgbClr val="01B3A1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4189013" y="3584439"/>
            <a:ext cx="0" cy="2358110"/>
          </a:xfrm>
          <a:prstGeom prst="line">
            <a:avLst/>
          </a:prstGeom>
          <a:ln cap="rnd" w="19050">
            <a:solidFill>
              <a:srgbClr val="FFBE24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937751" y="7033695"/>
            <a:ext cx="0" cy="2276961"/>
          </a:xfrm>
          <a:prstGeom prst="line">
            <a:avLst/>
          </a:prstGeom>
          <a:ln cap="rnd" w="19050">
            <a:solidFill>
              <a:srgbClr val="44C36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true" rot="-10800000">
            <a:off x="4810718" y="6634340"/>
            <a:ext cx="1470117" cy="147396"/>
          </a:xfrm>
          <a:custGeom>
            <a:avLst/>
            <a:gdLst/>
            <a:ahLst/>
            <a:cxnLst/>
            <a:rect r="r" b="b" t="t" l="l"/>
            <a:pathLst>
              <a:path h="147396" w="1470117">
                <a:moveTo>
                  <a:pt x="0" y="147395"/>
                </a:moveTo>
                <a:lnTo>
                  <a:pt x="1470118" y="147395"/>
                </a:lnTo>
                <a:lnTo>
                  <a:pt x="1470118" y="0"/>
                </a:lnTo>
                <a:lnTo>
                  <a:pt x="0" y="0"/>
                </a:lnTo>
                <a:lnTo>
                  <a:pt x="0" y="147395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-1362" r="0" b="-1288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8616511" y="3705648"/>
            <a:ext cx="1470117" cy="147396"/>
          </a:xfrm>
          <a:custGeom>
            <a:avLst/>
            <a:gdLst/>
            <a:ahLst/>
            <a:cxnLst/>
            <a:rect r="r" b="b" t="t" l="l"/>
            <a:pathLst>
              <a:path h="147396" w="1470117">
                <a:moveTo>
                  <a:pt x="0" y="147396"/>
                </a:moveTo>
                <a:lnTo>
                  <a:pt x="1470117" y="147396"/>
                </a:lnTo>
                <a:lnTo>
                  <a:pt x="1470117" y="0"/>
                </a:lnTo>
                <a:lnTo>
                  <a:pt x="0" y="0"/>
                </a:lnTo>
                <a:lnTo>
                  <a:pt x="0" y="147396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-1362" r="0" b="-1288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10800000">
            <a:off x="10202692" y="7160568"/>
            <a:ext cx="1470117" cy="147396"/>
          </a:xfrm>
          <a:custGeom>
            <a:avLst/>
            <a:gdLst/>
            <a:ahLst/>
            <a:cxnLst/>
            <a:rect r="r" b="b" t="t" l="l"/>
            <a:pathLst>
              <a:path h="147396" w="1470117">
                <a:moveTo>
                  <a:pt x="0" y="147395"/>
                </a:moveTo>
                <a:lnTo>
                  <a:pt x="1470117" y="147395"/>
                </a:lnTo>
                <a:lnTo>
                  <a:pt x="1470117" y="0"/>
                </a:lnTo>
                <a:lnTo>
                  <a:pt x="0" y="0"/>
                </a:lnTo>
                <a:lnTo>
                  <a:pt x="0" y="147395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-1362" r="0" b="-1288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10800000">
            <a:off x="13453954" y="5938012"/>
            <a:ext cx="1470117" cy="147396"/>
          </a:xfrm>
          <a:custGeom>
            <a:avLst/>
            <a:gdLst/>
            <a:ahLst/>
            <a:cxnLst/>
            <a:rect r="r" b="b" t="t" l="l"/>
            <a:pathLst>
              <a:path h="147396" w="1470117">
                <a:moveTo>
                  <a:pt x="0" y="147395"/>
                </a:moveTo>
                <a:lnTo>
                  <a:pt x="1470118" y="147395"/>
                </a:lnTo>
                <a:lnTo>
                  <a:pt x="1470118" y="0"/>
                </a:lnTo>
                <a:lnTo>
                  <a:pt x="0" y="0"/>
                </a:lnTo>
                <a:lnTo>
                  <a:pt x="0" y="147395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 l="0" t="-1362" r="0" b="-12884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10718" y="6048558"/>
            <a:ext cx="1470117" cy="659479"/>
            <a:chOff x="0" y="0"/>
            <a:chExt cx="905951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5951" cy="406400"/>
            </a:xfrm>
            <a:custGeom>
              <a:avLst/>
              <a:gdLst/>
              <a:ahLst/>
              <a:cxnLst/>
              <a:rect r="r" b="b" t="t" l="l"/>
              <a:pathLst>
                <a:path h="406400" w="905951">
                  <a:moveTo>
                    <a:pt x="702751" y="0"/>
                  </a:moveTo>
                  <a:cubicBezTo>
                    <a:pt x="814975" y="0"/>
                    <a:pt x="905951" y="90976"/>
                    <a:pt x="905951" y="203200"/>
                  </a:cubicBezTo>
                  <a:cubicBezTo>
                    <a:pt x="905951" y="315424"/>
                    <a:pt x="814975" y="406400"/>
                    <a:pt x="7027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575D5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0595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616511" y="3119867"/>
            <a:ext cx="1470117" cy="659479"/>
            <a:chOff x="0" y="0"/>
            <a:chExt cx="905951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5951" cy="406400"/>
            </a:xfrm>
            <a:custGeom>
              <a:avLst/>
              <a:gdLst/>
              <a:ahLst/>
              <a:cxnLst/>
              <a:rect r="r" b="b" t="t" l="l"/>
              <a:pathLst>
                <a:path h="406400" w="905951">
                  <a:moveTo>
                    <a:pt x="702751" y="0"/>
                  </a:moveTo>
                  <a:cubicBezTo>
                    <a:pt x="814975" y="0"/>
                    <a:pt x="905951" y="90976"/>
                    <a:pt x="905951" y="203200"/>
                  </a:cubicBezTo>
                  <a:cubicBezTo>
                    <a:pt x="905951" y="315424"/>
                    <a:pt x="814975" y="406400"/>
                    <a:pt x="7027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1B3A1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0595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02692" y="6574786"/>
            <a:ext cx="1470117" cy="659479"/>
            <a:chOff x="0" y="0"/>
            <a:chExt cx="905951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5951" cy="406400"/>
            </a:xfrm>
            <a:custGeom>
              <a:avLst/>
              <a:gdLst/>
              <a:ahLst/>
              <a:cxnLst/>
              <a:rect r="r" b="b" t="t" l="l"/>
              <a:pathLst>
                <a:path h="406400" w="905951">
                  <a:moveTo>
                    <a:pt x="702751" y="0"/>
                  </a:moveTo>
                  <a:cubicBezTo>
                    <a:pt x="814975" y="0"/>
                    <a:pt x="905951" y="90976"/>
                    <a:pt x="905951" y="203200"/>
                  </a:cubicBezTo>
                  <a:cubicBezTo>
                    <a:pt x="905951" y="315424"/>
                    <a:pt x="814975" y="406400"/>
                    <a:pt x="7027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4C36F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0595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2037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453954" y="5352230"/>
            <a:ext cx="1470117" cy="659479"/>
            <a:chOff x="0" y="0"/>
            <a:chExt cx="905951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5951" cy="406400"/>
            </a:xfrm>
            <a:custGeom>
              <a:avLst/>
              <a:gdLst/>
              <a:ahLst/>
              <a:cxnLst/>
              <a:rect r="r" b="b" t="t" l="l"/>
              <a:pathLst>
                <a:path h="406400" w="905951">
                  <a:moveTo>
                    <a:pt x="702751" y="0"/>
                  </a:moveTo>
                  <a:cubicBezTo>
                    <a:pt x="814975" y="0"/>
                    <a:pt x="905951" y="90976"/>
                    <a:pt x="905951" y="203200"/>
                  </a:cubicBezTo>
                  <a:cubicBezTo>
                    <a:pt x="905951" y="315424"/>
                    <a:pt x="814975" y="406400"/>
                    <a:pt x="7027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E24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0595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2038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745802" y="7746157"/>
            <a:ext cx="3041712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Att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ract 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ew audiences through targeted outreach, effective marketing, and messaging.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51594" y="1640205"/>
            <a:ext cx="3041712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ntere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usi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ging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content hi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ghl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ght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produc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 benefits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89038" y="4005444"/>
            <a:ext cx="3041712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ecure commitme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ensure smooth onboa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ding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excellent cus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tomer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exp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iences.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37776" y="8484521"/>
            <a:ext cx="3041712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Offe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 cl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ear sol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uti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ons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nd suppor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 customers effecti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deci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ion-m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45802" y="7287052"/>
            <a:ext cx="304171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Awa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reness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51594" y="1181100"/>
            <a:ext cx="304171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89038" y="3546339"/>
            <a:ext cx="304171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Conv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ersion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37776" y="8025416"/>
            <a:ext cx="304171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ecision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2500" y="3004185"/>
            <a:ext cx="2762250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isualize</a:t>
            </a:r>
            <a:r>
              <a:rPr lang="en-US" sz="18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stages from awareness to customer conversion.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500" y="885825"/>
            <a:ext cx="276225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Gr</a:t>
            </a: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owth Expansion Funnel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980226" y="3942197"/>
            <a:ext cx="1107758" cy="1107758"/>
          </a:xfrm>
          <a:custGeom>
            <a:avLst/>
            <a:gdLst/>
            <a:ahLst/>
            <a:cxnLst/>
            <a:rect r="r" b="b" t="t" l="l"/>
            <a:pathLst>
              <a:path h="1107758" w="1107758">
                <a:moveTo>
                  <a:pt x="0" y="0"/>
                </a:moveTo>
                <a:lnTo>
                  <a:pt x="1107758" y="0"/>
                </a:lnTo>
                <a:lnTo>
                  <a:pt x="1107758" y="1107758"/>
                </a:lnTo>
                <a:lnTo>
                  <a:pt x="0" y="11077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9634191" y="4802209"/>
            <a:ext cx="904875" cy="904875"/>
          </a:xfrm>
          <a:custGeom>
            <a:avLst/>
            <a:gdLst/>
            <a:ahLst/>
            <a:cxnLst/>
            <a:rect r="r" b="b" t="t" l="l"/>
            <a:pathLst>
              <a:path h="904875" w="904875">
                <a:moveTo>
                  <a:pt x="0" y="0"/>
                </a:moveTo>
                <a:lnTo>
                  <a:pt x="904875" y="0"/>
                </a:lnTo>
                <a:lnTo>
                  <a:pt x="904875" y="904875"/>
                </a:lnTo>
                <a:lnTo>
                  <a:pt x="0" y="904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2154625" y="5707352"/>
            <a:ext cx="817245" cy="817245"/>
          </a:xfrm>
          <a:custGeom>
            <a:avLst/>
            <a:gdLst/>
            <a:ahLst/>
            <a:cxnLst/>
            <a:rect r="r" b="b" t="t" l="l"/>
            <a:pathLst>
              <a:path h="817245" w="817245">
                <a:moveTo>
                  <a:pt x="0" y="0"/>
                </a:moveTo>
                <a:lnTo>
                  <a:pt x="817245" y="0"/>
                </a:lnTo>
                <a:lnTo>
                  <a:pt x="817245" y="817245"/>
                </a:lnTo>
                <a:lnTo>
                  <a:pt x="0" y="8172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4770479" y="6707597"/>
            <a:ext cx="714375" cy="714375"/>
          </a:xfrm>
          <a:custGeom>
            <a:avLst/>
            <a:gdLst/>
            <a:ahLst/>
            <a:cxnLst/>
            <a:rect r="r" b="b" t="t" l="l"/>
            <a:pathLst>
              <a:path h="714375" w="714375">
                <a:moveTo>
                  <a:pt x="0" y="0"/>
                </a:moveTo>
                <a:lnTo>
                  <a:pt x="714375" y="0"/>
                </a:lnTo>
                <a:lnTo>
                  <a:pt x="714375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10107" y="3343993"/>
            <a:ext cx="5016493" cy="530176"/>
          </a:xfrm>
          <a:custGeom>
            <a:avLst/>
            <a:gdLst/>
            <a:ahLst/>
            <a:cxnLst/>
            <a:rect r="r" b="b" t="t" l="l"/>
            <a:pathLst>
              <a:path h="530176" w="5016493">
                <a:moveTo>
                  <a:pt x="0" y="530177"/>
                </a:moveTo>
                <a:lnTo>
                  <a:pt x="5016493" y="530177"/>
                </a:lnTo>
                <a:lnTo>
                  <a:pt x="5016493" y="0"/>
                </a:lnTo>
                <a:lnTo>
                  <a:pt x="0" y="0"/>
                </a:lnTo>
                <a:lnTo>
                  <a:pt x="0" y="530177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-1292" r="0" b="-70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184811" y="4515609"/>
            <a:ext cx="5016493" cy="530176"/>
          </a:xfrm>
          <a:custGeom>
            <a:avLst/>
            <a:gdLst/>
            <a:ahLst/>
            <a:cxnLst/>
            <a:rect r="r" b="b" t="t" l="l"/>
            <a:pathLst>
              <a:path h="530176" w="5016493">
                <a:moveTo>
                  <a:pt x="0" y="530176"/>
                </a:moveTo>
                <a:lnTo>
                  <a:pt x="5016493" y="530176"/>
                </a:lnTo>
                <a:lnTo>
                  <a:pt x="5016493" y="0"/>
                </a:lnTo>
                <a:lnTo>
                  <a:pt x="0" y="0"/>
                </a:lnTo>
                <a:lnTo>
                  <a:pt x="0" y="530176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-1292" r="0" b="-708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3600642" y="8583045"/>
            <a:ext cx="5016493" cy="530176"/>
          </a:xfrm>
          <a:custGeom>
            <a:avLst/>
            <a:gdLst/>
            <a:ahLst/>
            <a:cxnLst/>
            <a:rect r="r" b="b" t="t" l="l"/>
            <a:pathLst>
              <a:path h="530176" w="5016493">
                <a:moveTo>
                  <a:pt x="0" y="530176"/>
                </a:moveTo>
                <a:lnTo>
                  <a:pt x="5016492" y="530176"/>
                </a:lnTo>
                <a:lnTo>
                  <a:pt x="5016492" y="0"/>
                </a:lnTo>
                <a:lnTo>
                  <a:pt x="0" y="0"/>
                </a:lnTo>
                <a:lnTo>
                  <a:pt x="0" y="530176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-1292" r="0" b="-708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09507" y="8583045"/>
            <a:ext cx="5016493" cy="530176"/>
          </a:xfrm>
          <a:custGeom>
            <a:avLst/>
            <a:gdLst/>
            <a:ahLst/>
            <a:cxnLst/>
            <a:rect r="r" b="b" t="t" l="l"/>
            <a:pathLst>
              <a:path h="530176" w="5016493">
                <a:moveTo>
                  <a:pt x="0" y="530176"/>
                </a:moveTo>
                <a:lnTo>
                  <a:pt x="5016493" y="530176"/>
                </a:lnTo>
                <a:lnTo>
                  <a:pt x="5016493" y="0"/>
                </a:lnTo>
                <a:lnTo>
                  <a:pt x="0" y="0"/>
                </a:lnTo>
                <a:lnTo>
                  <a:pt x="0" y="530176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-1292" r="0" b="-708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6374073">
            <a:off x="2088222" y="753895"/>
            <a:ext cx="13805484" cy="6674255"/>
          </a:xfrm>
          <a:custGeom>
            <a:avLst/>
            <a:gdLst/>
            <a:ahLst/>
            <a:cxnLst/>
            <a:rect r="r" b="b" t="t" l="l"/>
            <a:pathLst>
              <a:path h="6674255" w="13805484">
                <a:moveTo>
                  <a:pt x="0" y="0"/>
                </a:moveTo>
                <a:lnTo>
                  <a:pt x="13805484" y="0"/>
                </a:lnTo>
                <a:lnTo>
                  <a:pt x="13805484" y="6674255"/>
                </a:lnTo>
                <a:lnTo>
                  <a:pt x="0" y="66742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493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10107" y="2152112"/>
            <a:ext cx="4955928" cy="1494058"/>
            <a:chOff x="0" y="0"/>
            <a:chExt cx="1305265" cy="3934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5265" cy="393497"/>
            </a:xfrm>
            <a:custGeom>
              <a:avLst/>
              <a:gdLst/>
              <a:ahLst/>
              <a:cxnLst/>
              <a:rect r="r" b="b" t="t" l="l"/>
              <a:pathLst>
                <a:path h="393497" w="1305265">
                  <a:moveTo>
                    <a:pt x="31243" y="0"/>
                  </a:moveTo>
                  <a:lnTo>
                    <a:pt x="1274022" y="0"/>
                  </a:lnTo>
                  <a:cubicBezTo>
                    <a:pt x="1291277" y="0"/>
                    <a:pt x="1305265" y="13988"/>
                    <a:pt x="1305265" y="31243"/>
                  </a:cubicBezTo>
                  <a:lnTo>
                    <a:pt x="1305265" y="362254"/>
                  </a:lnTo>
                  <a:cubicBezTo>
                    <a:pt x="1305265" y="379509"/>
                    <a:pt x="1291277" y="393497"/>
                    <a:pt x="1274022" y="393497"/>
                  </a:cubicBezTo>
                  <a:lnTo>
                    <a:pt x="31243" y="393497"/>
                  </a:lnTo>
                  <a:cubicBezTo>
                    <a:pt x="13988" y="393497"/>
                    <a:pt x="0" y="379509"/>
                    <a:pt x="0" y="362254"/>
                  </a:cubicBezTo>
                  <a:lnTo>
                    <a:pt x="0" y="31243"/>
                  </a:lnTo>
                  <a:cubicBezTo>
                    <a:pt x="0" y="13988"/>
                    <a:pt x="13988" y="0"/>
                    <a:pt x="312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05265" cy="431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49112" y="3343993"/>
            <a:ext cx="4955928" cy="1494058"/>
            <a:chOff x="0" y="0"/>
            <a:chExt cx="1305265" cy="3934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5265" cy="393497"/>
            </a:xfrm>
            <a:custGeom>
              <a:avLst/>
              <a:gdLst/>
              <a:ahLst/>
              <a:cxnLst/>
              <a:rect r="r" b="b" t="t" l="l"/>
              <a:pathLst>
                <a:path h="393497" w="1305265">
                  <a:moveTo>
                    <a:pt x="31243" y="0"/>
                  </a:moveTo>
                  <a:lnTo>
                    <a:pt x="1274022" y="0"/>
                  </a:lnTo>
                  <a:cubicBezTo>
                    <a:pt x="1291277" y="0"/>
                    <a:pt x="1305265" y="13988"/>
                    <a:pt x="1305265" y="31243"/>
                  </a:cubicBezTo>
                  <a:lnTo>
                    <a:pt x="1305265" y="362254"/>
                  </a:lnTo>
                  <a:cubicBezTo>
                    <a:pt x="1305265" y="379509"/>
                    <a:pt x="1291277" y="393497"/>
                    <a:pt x="1274022" y="393497"/>
                  </a:cubicBezTo>
                  <a:lnTo>
                    <a:pt x="31243" y="393497"/>
                  </a:lnTo>
                  <a:cubicBezTo>
                    <a:pt x="13988" y="393497"/>
                    <a:pt x="0" y="379509"/>
                    <a:pt x="0" y="362254"/>
                  </a:cubicBezTo>
                  <a:lnTo>
                    <a:pt x="0" y="31243"/>
                  </a:lnTo>
                  <a:cubicBezTo>
                    <a:pt x="0" y="13988"/>
                    <a:pt x="13988" y="0"/>
                    <a:pt x="312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05265" cy="431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70072" y="7391163"/>
            <a:ext cx="4955928" cy="1494058"/>
            <a:chOff x="0" y="0"/>
            <a:chExt cx="1305265" cy="3934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05265" cy="393497"/>
            </a:xfrm>
            <a:custGeom>
              <a:avLst/>
              <a:gdLst/>
              <a:ahLst/>
              <a:cxnLst/>
              <a:rect r="r" b="b" t="t" l="l"/>
              <a:pathLst>
                <a:path h="393497" w="1305265">
                  <a:moveTo>
                    <a:pt x="31243" y="0"/>
                  </a:moveTo>
                  <a:lnTo>
                    <a:pt x="1274022" y="0"/>
                  </a:lnTo>
                  <a:cubicBezTo>
                    <a:pt x="1291277" y="0"/>
                    <a:pt x="1305265" y="13988"/>
                    <a:pt x="1305265" y="31243"/>
                  </a:cubicBezTo>
                  <a:lnTo>
                    <a:pt x="1305265" y="362254"/>
                  </a:lnTo>
                  <a:cubicBezTo>
                    <a:pt x="1305265" y="379509"/>
                    <a:pt x="1291277" y="393497"/>
                    <a:pt x="1274022" y="393497"/>
                  </a:cubicBezTo>
                  <a:lnTo>
                    <a:pt x="31243" y="393497"/>
                  </a:lnTo>
                  <a:cubicBezTo>
                    <a:pt x="13988" y="393497"/>
                    <a:pt x="0" y="379509"/>
                    <a:pt x="0" y="362254"/>
                  </a:cubicBezTo>
                  <a:lnTo>
                    <a:pt x="0" y="31243"/>
                  </a:lnTo>
                  <a:cubicBezTo>
                    <a:pt x="0" y="13988"/>
                    <a:pt x="13988" y="0"/>
                    <a:pt x="312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05265" cy="431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00642" y="7391163"/>
            <a:ext cx="4955928" cy="1494058"/>
            <a:chOff x="0" y="0"/>
            <a:chExt cx="1305265" cy="393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05265" cy="393497"/>
            </a:xfrm>
            <a:custGeom>
              <a:avLst/>
              <a:gdLst/>
              <a:ahLst/>
              <a:cxnLst/>
              <a:rect r="r" b="b" t="t" l="l"/>
              <a:pathLst>
                <a:path h="393497" w="1305265">
                  <a:moveTo>
                    <a:pt x="31243" y="0"/>
                  </a:moveTo>
                  <a:lnTo>
                    <a:pt x="1274022" y="0"/>
                  </a:lnTo>
                  <a:cubicBezTo>
                    <a:pt x="1291277" y="0"/>
                    <a:pt x="1305265" y="13988"/>
                    <a:pt x="1305265" y="31243"/>
                  </a:cubicBezTo>
                  <a:lnTo>
                    <a:pt x="1305265" y="362254"/>
                  </a:lnTo>
                  <a:cubicBezTo>
                    <a:pt x="1305265" y="379509"/>
                    <a:pt x="1291277" y="393497"/>
                    <a:pt x="1274022" y="393497"/>
                  </a:cubicBezTo>
                  <a:lnTo>
                    <a:pt x="31243" y="393497"/>
                  </a:lnTo>
                  <a:cubicBezTo>
                    <a:pt x="13988" y="393497"/>
                    <a:pt x="0" y="379509"/>
                    <a:pt x="0" y="362254"/>
                  </a:cubicBezTo>
                  <a:lnTo>
                    <a:pt x="0" y="31243"/>
                  </a:lnTo>
                  <a:cubicBezTo>
                    <a:pt x="0" y="13988"/>
                    <a:pt x="13988" y="0"/>
                    <a:pt x="312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05265" cy="431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10107" y="1405083"/>
            <a:ext cx="2451419" cy="593805"/>
            <a:chOff x="0" y="0"/>
            <a:chExt cx="645641" cy="1563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5641" cy="156393"/>
            </a:xfrm>
            <a:custGeom>
              <a:avLst/>
              <a:gdLst/>
              <a:ahLst/>
              <a:cxnLst/>
              <a:rect r="r" b="b" t="t" l="l"/>
              <a:pathLst>
                <a:path h="156393" w="645641">
                  <a:moveTo>
                    <a:pt x="63163" y="0"/>
                  </a:moveTo>
                  <a:lnTo>
                    <a:pt x="582478" y="0"/>
                  </a:lnTo>
                  <a:cubicBezTo>
                    <a:pt x="617362" y="0"/>
                    <a:pt x="645641" y="28279"/>
                    <a:pt x="645641" y="63163"/>
                  </a:cubicBezTo>
                  <a:lnTo>
                    <a:pt x="645641" y="93230"/>
                  </a:lnTo>
                  <a:cubicBezTo>
                    <a:pt x="645641" y="128114"/>
                    <a:pt x="617362" y="156393"/>
                    <a:pt x="582478" y="156393"/>
                  </a:cubicBezTo>
                  <a:lnTo>
                    <a:pt x="63163" y="156393"/>
                  </a:lnTo>
                  <a:cubicBezTo>
                    <a:pt x="28279" y="156393"/>
                    <a:pt x="0" y="128114"/>
                    <a:pt x="0" y="93230"/>
                  </a:cubicBezTo>
                  <a:lnTo>
                    <a:pt x="0" y="63163"/>
                  </a:lnTo>
                  <a:cubicBezTo>
                    <a:pt x="0" y="28279"/>
                    <a:pt x="28279" y="0"/>
                    <a:pt x="63163" y="0"/>
                  </a:cubicBezTo>
                  <a:close/>
                </a:path>
              </a:pathLst>
            </a:custGeom>
            <a:solidFill>
              <a:srgbClr val="1575D5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45641" cy="194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Q1 - Jan 2035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249112" y="2596964"/>
            <a:ext cx="2451419" cy="593805"/>
            <a:chOff x="0" y="0"/>
            <a:chExt cx="645641" cy="1563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5641" cy="156393"/>
            </a:xfrm>
            <a:custGeom>
              <a:avLst/>
              <a:gdLst/>
              <a:ahLst/>
              <a:cxnLst/>
              <a:rect r="r" b="b" t="t" l="l"/>
              <a:pathLst>
                <a:path h="156393" w="645641">
                  <a:moveTo>
                    <a:pt x="63163" y="0"/>
                  </a:moveTo>
                  <a:lnTo>
                    <a:pt x="582478" y="0"/>
                  </a:lnTo>
                  <a:cubicBezTo>
                    <a:pt x="617362" y="0"/>
                    <a:pt x="645641" y="28279"/>
                    <a:pt x="645641" y="63163"/>
                  </a:cubicBezTo>
                  <a:lnTo>
                    <a:pt x="645641" y="93230"/>
                  </a:lnTo>
                  <a:cubicBezTo>
                    <a:pt x="645641" y="128114"/>
                    <a:pt x="617362" y="156393"/>
                    <a:pt x="582478" y="156393"/>
                  </a:cubicBezTo>
                  <a:lnTo>
                    <a:pt x="63163" y="156393"/>
                  </a:lnTo>
                  <a:cubicBezTo>
                    <a:pt x="28279" y="156393"/>
                    <a:pt x="0" y="128114"/>
                    <a:pt x="0" y="93230"/>
                  </a:cubicBezTo>
                  <a:lnTo>
                    <a:pt x="0" y="63163"/>
                  </a:lnTo>
                  <a:cubicBezTo>
                    <a:pt x="0" y="28279"/>
                    <a:pt x="28279" y="0"/>
                    <a:pt x="63163" y="0"/>
                  </a:cubicBezTo>
                  <a:close/>
                </a:path>
              </a:pathLst>
            </a:custGeom>
            <a:solidFill>
              <a:srgbClr val="01B3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45641" cy="194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Q4 - Oct 2035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570072" y="6644134"/>
            <a:ext cx="2451419" cy="593805"/>
            <a:chOff x="0" y="0"/>
            <a:chExt cx="645641" cy="1563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5641" cy="156393"/>
            </a:xfrm>
            <a:custGeom>
              <a:avLst/>
              <a:gdLst/>
              <a:ahLst/>
              <a:cxnLst/>
              <a:rect r="r" b="b" t="t" l="l"/>
              <a:pathLst>
                <a:path h="156393" w="645641">
                  <a:moveTo>
                    <a:pt x="63163" y="0"/>
                  </a:moveTo>
                  <a:lnTo>
                    <a:pt x="582478" y="0"/>
                  </a:lnTo>
                  <a:cubicBezTo>
                    <a:pt x="617362" y="0"/>
                    <a:pt x="645641" y="28279"/>
                    <a:pt x="645641" y="63163"/>
                  </a:cubicBezTo>
                  <a:lnTo>
                    <a:pt x="645641" y="93230"/>
                  </a:lnTo>
                  <a:cubicBezTo>
                    <a:pt x="645641" y="128114"/>
                    <a:pt x="617362" y="156393"/>
                    <a:pt x="582478" y="156393"/>
                  </a:cubicBezTo>
                  <a:lnTo>
                    <a:pt x="63163" y="156393"/>
                  </a:lnTo>
                  <a:cubicBezTo>
                    <a:pt x="28279" y="156393"/>
                    <a:pt x="0" y="128114"/>
                    <a:pt x="0" y="93230"/>
                  </a:cubicBezTo>
                  <a:lnTo>
                    <a:pt x="0" y="63163"/>
                  </a:lnTo>
                  <a:cubicBezTo>
                    <a:pt x="0" y="28279"/>
                    <a:pt x="28279" y="0"/>
                    <a:pt x="63163" y="0"/>
                  </a:cubicBezTo>
                  <a:close/>
                </a:path>
              </a:pathLst>
            </a:custGeom>
            <a:solidFill>
              <a:srgbClr val="FFBE24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5641" cy="194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</a:t>
              </a:r>
              <a:r>
                <a:rPr lang="en-US" b="true" sz="1800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  <a:r>
                <a:rPr lang="en-US" b="true" sz="1800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- </a:t>
              </a:r>
              <a:r>
                <a:rPr lang="en-US" b="true" sz="1800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Oct</a:t>
              </a:r>
              <a:r>
                <a:rPr lang="en-US" b="true" sz="1800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2036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600642" y="6644134"/>
            <a:ext cx="2451419" cy="593805"/>
            <a:chOff x="0" y="0"/>
            <a:chExt cx="645641" cy="15639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5641" cy="156393"/>
            </a:xfrm>
            <a:custGeom>
              <a:avLst/>
              <a:gdLst/>
              <a:ahLst/>
              <a:cxnLst/>
              <a:rect r="r" b="b" t="t" l="l"/>
              <a:pathLst>
                <a:path h="156393" w="645641">
                  <a:moveTo>
                    <a:pt x="63163" y="0"/>
                  </a:moveTo>
                  <a:lnTo>
                    <a:pt x="582478" y="0"/>
                  </a:lnTo>
                  <a:cubicBezTo>
                    <a:pt x="617362" y="0"/>
                    <a:pt x="645641" y="28279"/>
                    <a:pt x="645641" y="63163"/>
                  </a:cubicBezTo>
                  <a:lnTo>
                    <a:pt x="645641" y="93230"/>
                  </a:lnTo>
                  <a:cubicBezTo>
                    <a:pt x="645641" y="128114"/>
                    <a:pt x="617362" y="156393"/>
                    <a:pt x="582478" y="156393"/>
                  </a:cubicBezTo>
                  <a:lnTo>
                    <a:pt x="63163" y="156393"/>
                  </a:lnTo>
                  <a:cubicBezTo>
                    <a:pt x="28279" y="156393"/>
                    <a:pt x="0" y="128114"/>
                    <a:pt x="0" y="93230"/>
                  </a:cubicBezTo>
                  <a:lnTo>
                    <a:pt x="0" y="63163"/>
                  </a:lnTo>
                  <a:cubicBezTo>
                    <a:pt x="0" y="28279"/>
                    <a:pt x="28279" y="0"/>
                    <a:pt x="63163" y="0"/>
                  </a:cubicBezTo>
                  <a:close/>
                </a:path>
              </a:pathLst>
            </a:custGeom>
            <a:solidFill>
              <a:srgbClr val="44C36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45641" cy="194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Q1 - Jan 2036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52500" y="4550445"/>
            <a:ext cx="4205164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Tw</a:t>
            </a: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o-Year Growth Roadmap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24583" y="2834688"/>
            <a:ext cx="3926978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efine annual go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ls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alloc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 resources for expa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24583" y="2375583"/>
            <a:ext cx="392697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oal Setting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29569" y="4026570"/>
            <a:ext cx="3926978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 products in small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targeted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regions to effectively validate business strategies.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729569" y="3567465"/>
            <a:ext cx="392697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Pil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ot Stage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115117" y="8073740"/>
            <a:ext cx="3926978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 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 presence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ld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stronger dis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ibu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tion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chann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115117" y="7614635"/>
            <a:ext cx="392697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Scal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ing Up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54265" y="8073740"/>
            <a:ext cx="3926978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stablish business across wider regions with stable global market operations.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54265" y="7614635"/>
            <a:ext cx="392697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Full Ma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rket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5134965" y="882732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0086798" y="2093864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6618006" y="5984270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0756874" y="8817793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86802" y="3522338"/>
            <a:ext cx="0" cy="1722755"/>
          </a:xfrm>
          <a:prstGeom prst="line">
            <a:avLst/>
          </a:prstGeom>
          <a:ln cap="flat" w="19050">
            <a:solidFill>
              <a:srgbClr val="1575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86802" y="5513698"/>
            <a:ext cx="0" cy="1722755"/>
          </a:xfrm>
          <a:prstGeom prst="line">
            <a:avLst/>
          </a:prstGeom>
          <a:ln cap="flat" w="19050">
            <a:solidFill>
              <a:srgbClr val="01B3A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086802" y="7505058"/>
            <a:ext cx="0" cy="978535"/>
          </a:xfrm>
          <a:prstGeom prst="line">
            <a:avLst/>
          </a:prstGeom>
          <a:ln cap="flat" w="19050">
            <a:solidFill>
              <a:srgbClr val="44C36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>
            <a:off x="5283121" y="3522338"/>
            <a:ext cx="0" cy="1722755"/>
          </a:xfrm>
          <a:prstGeom prst="line">
            <a:avLst/>
          </a:prstGeom>
          <a:ln cap="flat" w="19050">
            <a:solidFill>
              <a:srgbClr val="B3C4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5283121" y="5513698"/>
            <a:ext cx="0" cy="978535"/>
          </a:xfrm>
          <a:prstGeom prst="line">
            <a:avLst/>
          </a:prstGeom>
          <a:ln cap="flat" w="19050">
            <a:solidFill>
              <a:srgbClr val="FFBE24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952500" y="3253733"/>
            <a:ext cx="268605" cy="2686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75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48819" y="3253733"/>
            <a:ext cx="268605" cy="2686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C4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" y="5245093"/>
            <a:ext cx="268605" cy="26860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3A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48819" y="5245093"/>
            <a:ext cx="268605" cy="26860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500" y="7236453"/>
            <a:ext cx="268605" cy="26860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C36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151285" y="2402826"/>
            <a:ext cx="7082170" cy="6931674"/>
          </a:xfrm>
          <a:custGeom>
            <a:avLst/>
            <a:gdLst/>
            <a:ahLst/>
            <a:cxnLst/>
            <a:rect r="r" b="b" t="t" l="l"/>
            <a:pathLst>
              <a:path h="6931674" w="7082170">
                <a:moveTo>
                  <a:pt x="0" y="0"/>
                </a:moveTo>
                <a:lnTo>
                  <a:pt x="7082171" y="0"/>
                </a:lnTo>
                <a:lnTo>
                  <a:pt x="7082171" y="6931674"/>
                </a:lnTo>
                <a:lnTo>
                  <a:pt x="0" y="693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2544594" y="4245394"/>
            <a:ext cx="1131075" cy="113107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75D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49286" y="5424443"/>
            <a:ext cx="1131075" cy="113107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58176" y="6226950"/>
            <a:ext cx="1131075" cy="113107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C42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089251" y="5626834"/>
            <a:ext cx="1131075" cy="113107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C36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42809" y="4381500"/>
            <a:ext cx="1131075" cy="113107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3A1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872007" y="4572806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4069624" y="4708912"/>
            <a:ext cx="477444" cy="476250"/>
          </a:xfrm>
          <a:custGeom>
            <a:avLst/>
            <a:gdLst/>
            <a:ahLst/>
            <a:cxnLst/>
            <a:rect r="r" b="b" t="t" l="l"/>
            <a:pathLst>
              <a:path h="476250" w="477444">
                <a:moveTo>
                  <a:pt x="0" y="0"/>
                </a:moveTo>
                <a:lnTo>
                  <a:pt x="477444" y="0"/>
                </a:lnTo>
                <a:lnTo>
                  <a:pt x="47744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4416663" y="5954246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2376698" y="5751855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13285588" y="6554362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3" id="43"/>
          <p:cNvSpPr txBox="true"/>
          <p:nvPr/>
        </p:nvSpPr>
        <p:spPr>
          <a:xfrm rot="0">
            <a:off x="952500" y="1632585"/>
            <a:ext cx="71830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ow cyclical process for</a:t>
            </a:r>
            <a:r>
              <a:rPr lang="en-US" sz="18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continuous business development.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2500" y="885825"/>
            <a:ext cx="718304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Expansi</a:t>
            </a: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on Phase Cycle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5905" y="3674738"/>
            <a:ext cx="273708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Research markets thoroughly to understand industry trends and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competition.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722223" y="3674738"/>
            <a:ext cx="273708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pilot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initi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tiv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igh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s,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ref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approaches.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25905" y="5666098"/>
            <a:ext cx="273708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evelop 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tegies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 research findings for business expansion.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722223" y="5666098"/>
            <a:ext cx="273708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Expand op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erations fully, strengthen market presence, and evaluate performance.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25905" y="3215633"/>
            <a:ext cx="27370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esearch Start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722223" y="3215633"/>
            <a:ext cx="27370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est Market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25905" y="5206993"/>
            <a:ext cx="27370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Plan D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esign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722223" y="5206993"/>
            <a:ext cx="27370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Full Growth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25905" y="7657458"/>
            <a:ext cx="273708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All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ocat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reso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rces, staff,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budget effectively to support expansion.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25905" y="7198353"/>
            <a:ext cx="27370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ource Prep</a:t>
            </a:r>
          </a:p>
        </p:txBody>
      </p:sp>
      <p:sp>
        <p:nvSpPr>
          <p:cNvPr name="TextBox 55" id="55"/>
          <p:cNvSpPr txBox="true"/>
          <p:nvPr/>
        </p:nvSpPr>
        <p:spPr>
          <a:xfrm rot="-341019">
            <a:off x="11846365" y="2936304"/>
            <a:ext cx="2090961" cy="69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January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2035</a:t>
            </a:r>
          </a:p>
        </p:txBody>
      </p:sp>
      <p:sp>
        <p:nvSpPr>
          <p:cNvPr name="TextBox 56" id="56"/>
          <p:cNvSpPr txBox="true"/>
          <p:nvPr/>
        </p:nvSpPr>
        <p:spPr>
          <a:xfrm rot="3885683">
            <a:off x="14903417" y="3928497"/>
            <a:ext cx="1643323" cy="58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Jun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 2035</a:t>
            </a:r>
          </a:p>
        </p:txBody>
      </p:sp>
      <p:sp>
        <p:nvSpPr>
          <p:cNvPr name="TextBox 57" id="57"/>
          <p:cNvSpPr txBox="true"/>
          <p:nvPr/>
        </p:nvSpPr>
        <p:spPr>
          <a:xfrm rot="-2810344">
            <a:off x="14618780" y="6863015"/>
            <a:ext cx="2094681" cy="69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anuary 2036</a:t>
            </a:r>
          </a:p>
        </p:txBody>
      </p:sp>
      <p:sp>
        <p:nvSpPr>
          <p:cNvPr name="TextBox 58" id="58"/>
          <p:cNvSpPr txBox="true"/>
          <p:nvPr/>
        </p:nvSpPr>
        <p:spPr>
          <a:xfrm rot="1648931">
            <a:off x="12001054" y="7802635"/>
            <a:ext cx="1647379" cy="5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Jun</a:t>
            </a: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 2036</a:t>
            </a:r>
          </a:p>
        </p:txBody>
      </p:sp>
      <p:sp>
        <p:nvSpPr>
          <p:cNvPr name="TextBox 59" id="59"/>
          <p:cNvSpPr txBox="true"/>
          <p:nvPr/>
        </p:nvSpPr>
        <p:spPr>
          <a:xfrm rot="-4898915">
            <a:off x="10031443" y="5355655"/>
            <a:ext cx="2068165" cy="68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January 2037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2244" y="4567788"/>
            <a:ext cx="8349496" cy="9597121"/>
          </a:xfrm>
          <a:custGeom>
            <a:avLst/>
            <a:gdLst/>
            <a:ahLst/>
            <a:cxnLst/>
            <a:rect r="r" b="b" t="t" l="l"/>
            <a:pathLst>
              <a:path h="9597121" w="8349496">
                <a:moveTo>
                  <a:pt x="0" y="0"/>
                </a:moveTo>
                <a:lnTo>
                  <a:pt x="8349495" y="0"/>
                </a:lnTo>
                <a:lnTo>
                  <a:pt x="8349495" y="9597121"/>
                </a:lnTo>
                <a:lnTo>
                  <a:pt x="0" y="9597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24457" y="5344168"/>
            <a:ext cx="1885506" cy="18855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46911" y="5466622"/>
            <a:ext cx="1640600" cy="16406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</a:t>
              </a:r>
              <a:r>
                <a:rPr lang="en-US" b="true" sz="2399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39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867210" y="7229674"/>
            <a:ext cx="0" cy="2136674"/>
          </a:xfrm>
          <a:prstGeom prst="line">
            <a:avLst/>
          </a:prstGeom>
          <a:ln cap="rnd" w="19050">
            <a:solidFill>
              <a:srgbClr val="FFBE24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6026808" y="930820"/>
            <a:ext cx="1885506" cy="188550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75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49262" y="1053273"/>
            <a:ext cx="1640600" cy="16406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2035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969561" y="2816326"/>
            <a:ext cx="0" cy="2136674"/>
          </a:xfrm>
          <a:prstGeom prst="line">
            <a:avLst/>
          </a:prstGeom>
          <a:ln cap="rnd" w="19050">
            <a:solidFill>
              <a:srgbClr val="1575D5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8398989" y="1846791"/>
            <a:ext cx="1885506" cy="188550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B3A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21442" y="1969244"/>
            <a:ext cx="1640600" cy="16406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</a:t>
              </a:r>
              <a:r>
                <a:rPr lang="en-US" b="true" sz="2399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36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9341742" y="3732297"/>
            <a:ext cx="0" cy="2136674"/>
          </a:xfrm>
          <a:prstGeom prst="line">
            <a:avLst/>
          </a:prstGeom>
          <a:ln cap="rnd" w="19050">
            <a:solidFill>
              <a:srgbClr val="01B3A1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7176991" y="3333078"/>
            <a:ext cx="1885506" cy="188550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4C36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299445" y="3455532"/>
            <a:ext cx="1640600" cy="16406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</a:t>
              </a:r>
              <a:r>
                <a:rPr lang="en-US" b="true" sz="2399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37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8119744" y="5218585"/>
            <a:ext cx="0" cy="2136674"/>
          </a:xfrm>
          <a:prstGeom prst="line">
            <a:avLst/>
          </a:prstGeom>
          <a:ln cap="rnd" w="19050">
            <a:solidFill>
              <a:srgbClr val="44C36F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4884486" y="3825725"/>
            <a:ext cx="1885506" cy="188550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3C42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006939" y="3948178"/>
            <a:ext cx="1640600" cy="164060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</a:t>
              </a:r>
              <a:r>
                <a:rPr lang="en-US" b="true" sz="2399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38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5827239" y="5711231"/>
            <a:ext cx="0" cy="2136674"/>
          </a:xfrm>
          <a:prstGeom prst="line">
            <a:avLst/>
          </a:prstGeom>
          <a:ln cap="rnd" w="19050">
            <a:solidFill>
              <a:srgbClr val="B3C42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38" id="38"/>
          <p:cNvSpPr txBox="true"/>
          <p:nvPr/>
        </p:nvSpPr>
        <p:spPr>
          <a:xfrm rot="0">
            <a:off x="952500" y="2270760"/>
            <a:ext cx="370500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isualize long-term</a:t>
            </a:r>
            <a:r>
              <a:rPr lang="en-US" sz="18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growth with yearly business milestones.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2500" y="885825"/>
            <a:ext cx="3705003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Fiv</a:t>
            </a: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e-Year Expansion Plan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001500" y="1138897"/>
            <a:ext cx="434246" cy="43424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75D5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43" id="43"/>
          <p:cNvSpPr/>
          <p:nvPr/>
        </p:nvSpPr>
        <p:spPr>
          <a:xfrm flipH="true">
            <a:off x="12218623" y="1573143"/>
            <a:ext cx="0" cy="578719"/>
          </a:xfrm>
          <a:prstGeom prst="line">
            <a:avLst/>
          </a:prstGeom>
          <a:ln cap="rnd" w="19050">
            <a:solidFill>
              <a:srgbClr val="1575D5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44" id="44"/>
          <p:cNvSpPr txBox="true"/>
          <p:nvPr/>
        </p:nvSpPr>
        <p:spPr>
          <a:xfrm rot="0">
            <a:off x="12733096" y="1601952"/>
            <a:ext cx="460240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Establish 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trong business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oundation through structured planning and market research.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733096" y="1142847"/>
            <a:ext cx="460240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oundation Build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001500" y="2934556"/>
            <a:ext cx="434246" cy="434246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B3A1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9" id="49"/>
          <p:cNvSpPr/>
          <p:nvPr/>
        </p:nvSpPr>
        <p:spPr>
          <a:xfrm flipH="true">
            <a:off x="12218623" y="3368802"/>
            <a:ext cx="0" cy="578719"/>
          </a:xfrm>
          <a:prstGeom prst="line">
            <a:avLst/>
          </a:prstGeom>
          <a:ln cap="rnd" w="19050">
            <a:solidFill>
              <a:srgbClr val="01B3A1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50" id="50"/>
          <p:cNvSpPr txBox="true"/>
          <p:nvPr/>
        </p:nvSpPr>
        <p:spPr>
          <a:xfrm rot="0">
            <a:off x="12733096" y="3397612"/>
            <a:ext cx="460240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 services regionally to refine operations and strengthen long-term growth strategies.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733096" y="2938507"/>
            <a:ext cx="460240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Pil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ot Expansion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001500" y="4730216"/>
            <a:ext cx="434246" cy="434246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4C36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5" id="55"/>
          <p:cNvSpPr/>
          <p:nvPr/>
        </p:nvSpPr>
        <p:spPr>
          <a:xfrm flipH="true">
            <a:off x="12218623" y="5164462"/>
            <a:ext cx="0" cy="578719"/>
          </a:xfrm>
          <a:prstGeom prst="line">
            <a:avLst/>
          </a:prstGeom>
          <a:ln cap="rnd" w="19050">
            <a:solidFill>
              <a:srgbClr val="44C36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56" id="56"/>
          <p:cNvSpPr txBox="true"/>
          <p:nvPr/>
        </p:nvSpPr>
        <p:spPr>
          <a:xfrm rot="0">
            <a:off x="12733096" y="5193271"/>
            <a:ext cx="460240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pand workforce and enhance infrastructure to support large-scale business activities.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733096" y="4734166"/>
            <a:ext cx="460240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eam Growth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001500" y="6525875"/>
            <a:ext cx="434246" cy="434246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3C42E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1" id="61"/>
          <p:cNvSpPr/>
          <p:nvPr/>
        </p:nvSpPr>
        <p:spPr>
          <a:xfrm flipH="true">
            <a:off x="12218623" y="6960121"/>
            <a:ext cx="0" cy="578719"/>
          </a:xfrm>
          <a:prstGeom prst="line">
            <a:avLst/>
          </a:prstGeom>
          <a:ln cap="rnd" w="19050">
            <a:solidFill>
              <a:srgbClr val="B3C42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62" id="62"/>
          <p:cNvSpPr txBox="true"/>
          <p:nvPr/>
        </p:nvSpPr>
        <p:spPr>
          <a:xfrm rot="0">
            <a:off x="12733096" y="6988931"/>
            <a:ext cx="460240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strong brand presence and lasting customer loyalty across newly entered regions.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733096" y="6529826"/>
            <a:ext cx="460240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rket Hold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001500" y="8321534"/>
            <a:ext cx="434246" cy="434246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7" id="67"/>
          <p:cNvSpPr/>
          <p:nvPr/>
        </p:nvSpPr>
        <p:spPr>
          <a:xfrm flipH="true">
            <a:off x="12218623" y="8755781"/>
            <a:ext cx="0" cy="578719"/>
          </a:xfrm>
          <a:prstGeom prst="line">
            <a:avLst/>
          </a:prstGeom>
          <a:ln cap="rnd" w="19050">
            <a:solidFill>
              <a:srgbClr val="FFBE2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68" id="68"/>
          <p:cNvSpPr txBox="true"/>
          <p:nvPr/>
        </p:nvSpPr>
        <p:spPr>
          <a:xfrm rot="0">
            <a:off x="12733096" y="8784590"/>
            <a:ext cx="460240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Achi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 industry leadership through sustainable and in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novativ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expansion strategies worldwide.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733096" y="8325485"/>
            <a:ext cx="460240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Indust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ry Position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52476" y="3571793"/>
            <a:ext cx="905525" cy="0"/>
          </a:xfrm>
          <a:prstGeom prst="line">
            <a:avLst/>
          </a:prstGeom>
          <a:ln cap="flat" w="19050">
            <a:solidFill>
              <a:srgbClr val="1575D5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710410" y="3559481"/>
            <a:ext cx="1025114" cy="0"/>
          </a:xfrm>
          <a:prstGeom prst="line">
            <a:avLst/>
          </a:prstGeom>
          <a:ln cap="flat" w="19050">
            <a:solidFill>
              <a:srgbClr val="FFBE2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" id="4"/>
          <p:cNvSpPr/>
          <p:nvPr/>
        </p:nvSpPr>
        <p:spPr>
          <a:xfrm>
            <a:off x="5552476" y="8251519"/>
            <a:ext cx="905525" cy="0"/>
          </a:xfrm>
          <a:prstGeom prst="line">
            <a:avLst/>
          </a:prstGeom>
          <a:ln cap="flat" w="19050">
            <a:solidFill>
              <a:srgbClr val="01B3A1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523409" y="8167110"/>
            <a:ext cx="1212114" cy="0"/>
          </a:xfrm>
          <a:prstGeom prst="line">
            <a:avLst/>
          </a:prstGeom>
          <a:ln cap="flat" w="19050">
            <a:solidFill>
              <a:srgbClr val="44C36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045845" y="2838326"/>
            <a:ext cx="6196310" cy="6134347"/>
          </a:xfrm>
          <a:custGeom>
            <a:avLst/>
            <a:gdLst/>
            <a:ahLst/>
            <a:cxnLst/>
            <a:rect r="r" b="b" t="t" l="l"/>
            <a:pathLst>
              <a:path h="6134347" w="6196310">
                <a:moveTo>
                  <a:pt x="0" y="0"/>
                </a:moveTo>
                <a:lnTo>
                  <a:pt x="6196310" y="0"/>
                </a:lnTo>
                <a:lnTo>
                  <a:pt x="6196310" y="6134348"/>
                </a:lnTo>
                <a:lnTo>
                  <a:pt x="0" y="61343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52476" y="1632585"/>
            <a:ext cx="71830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Track f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our quarters of progr</a:t>
            </a:r>
            <a:r>
              <a:rPr lang="en-US" sz="18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ess for annual business growth.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52476" y="885825"/>
            <a:ext cx="718304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Qua</a:t>
            </a: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rterly Cycle 2035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90757" y="2637073"/>
            <a:ext cx="306698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575D5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30257" y="2637073"/>
            <a:ext cx="306698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BE24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0757" y="7329111"/>
            <a:ext cx="300513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1B3A1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30257" y="7329111"/>
            <a:ext cx="306698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44C36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2830115">
            <a:off x="8428908" y="3833769"/>
            <a:ext cx="1474056" cy="60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Q1 2035</a:t>
            </a:r>
          </a:p>
        </p:txBody>
      </p:sp>
      <p:sp>
        <p:nvSpPr>
          <p:cNvPr name="TextBox 14" id="14"/>
          <p:cNvSpPr txBox="true"/>
          <p:nvPr/>
        </p:nvSpPr>
        <p:spPr>
          <a:xfrm rot="-2766436">
            <a:off x="6668870" y="5408154"/>
            <a:ext cx="1557610" cy="61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Q2 2035</a:t>
            </a:r>
          </a:p>
        </p:txBody>
      </p:sp>
      <p:sp>
        <p:nvSpPr>
          <p:cNvPr name="TextBox 15" id="15"/>
          <p:cNvSpPr txBox="true"/>
          <p:nvPr/>
        </p:nvSpPr>
        <p:spPr>
          <a:xfrm rot="-2535766">
            <a:off x="9838655" y="5592713"/>
            <a:ext cx="1583308" cy="61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Q4 2035</a:t>
            </a:r>
          </a:p>
        </p:txBody>
      </p:sp>
      <p:sp>
        <p:nvSpPr>
          <p:cNvPr name="TextBox 16" id="16"/>
          <p:cNvSpPr txBox="true"/>
          <p:nvPr/>
        </p:nvSpPr>
        <p:spPr>
          <a:xfrm rot="2928914">
            <a:off x="8323936" y="7168508"/>
            <a:ext cx="1566813" cy="61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Q3 2035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0757" y="3849170"/>
            <a:ext cx="306698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Establ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ish clear growth objectives and measurable targets to guide annual progress.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30257" y="3849170"/>
            <a:ext cx="306698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ecute exp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plan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road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ly, rea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ching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wid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 market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and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diverse cus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grou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90757" y="8537657"/>
            <a:ext cx="300513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engthen 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ons an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oca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ffec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ively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prepar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for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30257" y="8537657"/>
            <a:ext cx="306698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Introduce products within limited scope to test markets, gather insights, and refine.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90757" y="3390065"/>
            <a:ext cx="306698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et Goals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30257" y="3390065"/>
            <a:ext cx="306698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rket Launch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90757" y="8078552"/>
            <a:ext cx="300513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ource Prep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30257" y="8078552"/>
            <a:ext cx="306698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Pil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ot Entry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458002" y="3250306"/>
            <a:ext cx="618173" cy="618173"/>
          </a:xfrm>
          <a:custGeom>
            <a:avLst/>
            <a:gdLst/>
            <a:ahLst/>
            <a:cxnLst/>
            <a:rect r="r" b="b" t="t" l="l"/>
            <a:pathLst>
              <a:path h="618173" w="618173">
                <a:moveTo>
                  <a:pt x="0" y="0"/>
                </a:moveTo>
                <a:lnTo>
                  <a:pt x="618172" y="0"/>
                </a:lnTo>
                <a:lnTo>
                  <a:pt x="618172" y="618172"/>
                </a:lnTo>
                <a:lnTo>
                  <a:pt x="0" y="618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1114405" y="3250306"/>
            <a:ext cx="618172" cy="618172"/>
          </a:xfrm>
          <a:custGeom>
            <a:avLst/>
            <a:gdLst/>
            <a:ahLst/>
            <a:cxnLst/>
            <a:rect r="r" b="b" t="t" l="l"/>
            <a:pathLst>
              <a:path h="618172" w="618172">
                <a:moveTo>
                  <a:pt x="0" y="0"/>
                </a:moveTo>
                <a:lnTo>
                  <a:pt x="618172" y="0"/>
                </a:lnTo>
                <a:lnTo>
                  <a:pt x="618172" y="618172"/>
                </a:lnTo>
                <a:lnTo>
                  <a:pt x="0" y="618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6458002" y="7958169"/>
            <a:ext cx="618172" cy="618172"/>
          </a:xfrm>
          <a:custGeom>
            <a:avLst/>
            <a:gdLst/>
            <a:ahLst/>
            <a:cxnLst/>
            <a:rect r="r" b="b" t="t" l="l"/>
            <a:pathLst>
              <a:path h="618172" w="618172">
                <a:moveTo>
                  <a:pt x="0" y="0"/>
                </a:moveTo>
                <a:lnTo>
                  <a:pt x="618172" y="0"/>
                </a:lnTo>
                <a:lnTo>
                  <a:pt x="618172" y="618172"/>
                </a:lnTo>
                <a:lnTo>
                  <a:pt x="0" y="6181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1278095" y="7857935"/>
            <a:ext cx="618172" cy="618172"/>
          </a:xfrm>
          <a:custGeom>
            <a:avLst/>
            <a:gdLst/>
            <a:ahLst/>
            <a:cxnLst/>
            <a:rect r="r" b="b" t="t" l="l"/>
            <a:pathLst>
              <a:path h="618172" w="618172">
                <a:moveTo>
                  <a:pt x="0" y="0"/>
                </a:moveTo>
                <a:lnTo>
                  <a:pt x="618173" y="0"/>
                </a:lnTo>
                <a:lnTo>
                  <a:pt x="618173" y="618173"/>
                </a:lnTo>
                <a:lnTo>
                  <a:pt x="0" y="6181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99999">
            <a:off x="6829551" y="2637734"/>
            <a:ext cx="4628898" cy="9375916"/>
          </a:xfrm>
          <a:custGeom>
            <a:avLst/>
            <a:gdLst/>
            <a:ahLst/>
            <a:cxnLst/>
            <a:rect r="r" b="b" t="t" l="l"/>
            <a:pathLst>
              <a:path h="9375916" w="4628898">
                <a:moveTo>
                  <a:pt x="0" y="0"/>
                </a:moveTo>
                <a:lnTo>
                  <a:pt x="4628898" y="0"/>
                </a:lnTo>
                <a:lnTo>
                  <a:pt x="4628898" y="9375916"/>
                </a:lnTo>
                <a:lnTo>
                  <a:pt x="0" y="9375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2551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true" rot="0">
            <a:off x="3905250" y="5221026"/>
            <a:ext cx="3111996" cy="258419"/>
          </a:xfrm>
          <a:custGeom>
            <a:avLst/>
            <a:gdLst/>
            <a:ahLst/>
            <a:cxnLst/>
            <a:rect r="r" b="b" t="t" l="l"/>
            <a:pathLst>
              <a:path h="258419" w="3111996">
                <a:moveTo>
                  <a:pt x="0" y="258419"/>
                </a:moveTo>
                <a:lnTo>
                  <a:pt x="3111996" y="258419"/>
                </a:lnTo>
                <a:lnTo>
                  <a:pt x="3111996" y="0"/>
                </a:lnTo>
                <a:lnTo>
                  <a:pt x="0" y="0"/>
                </a:lnTo>
                <a:lnTo>
                  <a:pt x="0" y="258419"/>
                </a:lnTo>
                <a:close/>
              </a:path>
            </a:pathLst>
          </a:custGeom>
          <a:blipFill>
            <a:blip r:embed="rId4">
              <a:alphaModFix amt="39000"/>
            </a:blip>
            <a:stretch>
              <a:fillRect l="0" t="-1644" r="0" b="-3629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718847" y="9442189"/>
            <a:ext cx="3111996" cy="258419"/>
          </a:xfrm>
          <a:custGeom>
            <a:avLst/>
            <a:gdLst/>
            <a:ahLst/>
            <a:cxnLst/>
            <a:rect r="r" b="b" t="t" l="l"/>
            <a:pathLst>
              <a:path h="258419" w="3111996">
                <a:moveTo>
                  <a:pt x="0" y="258418"/>
                </a:moveTo>
                <a:lnTo>
                  <a:pt x="3111996" y="258418"/>
                </a:lnTo>
                <a:lnTo>
                  <a:pt x="3111996" y="0"/>
                </a:lnTo>
                <a:lnTo>
                  <a:pt x="0" y="0"/>
                </a:lnTo>
                <a:lnTo>
                  <a:pt x="0" y="258418"/>
                </a:lnTo>
                <a:close/>
              </a:path>
            </a:pathLst>
          </a:custGeom>
          <a:blipFill>
            <a:blip r:embed="rId4">
              <a:alphaModFix amt="39000"/>
            </a:blip>
            <a:stretch>
              <a:fillRect l="0" t="-1644" r="0" b="-3629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210667" y="5221026"/>
            <a:ext cx="3111996" cy="258419"/>
          </a:xfrm>
          <a:custGeom>
            <a:avLst/>
            <a:gdLst/>
            <a:ahLst/>
            <a:cxnLst/>
            <a:rect r="r" b="b" t="t" l="l"/>
            <a:pathLst>
              <a:path h="258419" w="3111996">
                <a:moveTo>
                  <a:pt x="0" y="258419"/>
                </a:moveTo>
                <a:lnTo>
                  <a:pt x="3111996" y="258419"/>
                </a:lnTo>
                <a:lnTo>
                  <a:pt x="3111996" y="0"/>
                </a:lnTo>
                <a:lnTo>
                  <a:pt x="0" y="0"/>
                </a:lnTo>
                <a:lnTo>
                  <a:pt x="0" y="258419"/>
                </a:lnTo>
                <a:close/>
              </a:path>
            </a:pathLst>
          </a:custGeom>
          <a:blipFill>
            <a:blip r:embed="rId4">
              <a:alphaModFix amt="39000"/>
            </a:blip>
            <a:stretch>
              <a:fillRect l="0" t="-1644" r="0" b="-3629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4376507" y="9442189"/>
            <a:ext cx="3111996" cy="258419"/>
          </a:xfrm>
          <a:custGeom>
            <a:avLst/>
            <a:gdLst/>
            <a:ahLst/>
            <a:cxnLst/>
            <a:rect r="r" b="b" t="t" l="l"/>
            <a:pathLst>
              <a:path h="258419" w="3111996">
                <a:moveTo>
                  <a:pt x="0" y="258418"/>
                </a:moveTo>
                <a:lnTo>
                  <a:pt x="3111996" y="258418"/>
                </a:lnTo>
                <a:lnTo>
                  <a:pt x="3111996" y="0"/>
                </a:lnTo>
                <a:lnTo>
                  <a:pt x="0" y="0"/>
                </a:lnTo>
                <a:lnTo>
                  <a:pt x="0" y="258418"/>
                </a:lnTo>
                <a:close/>
              </a:path>
            </a:pathLst>
          </a:custGeom>
          <a:blipFill>
            <a:blip r:embed="rId4">
              <a:alphaModFix amt="39000"/>
            </a:blip>
            <a:stretch>
              <a:fillRect l="0" t="-1644" r="0" b="-3629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46173" y="6583846"/>
            <a:ext cx="1626008" cy="1626008"/>
          </a:xfrm>
          <a:custGeom>
            <a:avLst/>
            <a:gdLst/>
            <a:ahLst/>
            <a:cxnLst/>
            <a:rect r="r" b="b" t="t" l="l"/>
            <a:pathLst>
              <a:path h="1626008" w="1626008">
                <a:moveTo>
                  <a:pt x="0" y="0"/>
                </a:moveTo>
                <a:lnTo>
                  <a:pt x="1626009" y="0"/>
                </a:lnTo>
                <a:lnTo>
                  <a:pt x="1626009" y="1626009"/>
                </a:lnTo>
                <a:lnTo>
                  <a:pt x="0" y="16260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7544" y="6541254"/>
            <a:ext cx="1626008" cy="1626008"/>
          </a:xfrm>
          <a:custGeom>
            <a:avLst/>
            <a:gdLst/>
            <a:ahLst/>
            <a:cxnLst/>
            <a:rect r="r" b="b" t="t" l="l"/>
            <a:pathLst>
              <a:path h="1626008" w="1626008">
                <a:moveTo>
                  <a:pt x="0" y="0"/>
                </a:moveTo>
                <a:lnTo>
                  <a:pt x="1626008" y="0"/>
                </a:lnTo>
                <a:lnTo>
                  <a:pt x="1626008" y="1626008"/>
                </a:lnTo>
                <a:lnTo>
                  <a:pt x="0" y="16260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642995" y="7906706"/>
            <a:ext cx="1626008" cy="1626008"/>
          </a:xfrm>
          <a:custGeom>
            <a:avLst/>
            <a:gdLst/>
            <a:ahLst/>
            <a:cxnLst/>
            <a:rect r="r" b="b" t="t" l="l"/>
            <a:pathLst>
              <a:path h="1626008" w="1626008">
                <a:moveTo>
                  <a:pt x="0" y="0"/>
                </a:moveTo>
                <a:lnTo>
                  <a:pt x="1626009" y="0"/>
                </a:lnTo>
                <a:lnTo>
                  <a:pt x="1626009" y="1626008"/>
                </a:lnTo>
                <a:lnTo>
                  <a:pt x="0" y="16260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529678" y="6723810"/>
            <a:ext cx="1298223" cy="129822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19" lIns="44519" bIns="44519" rIns="44519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57292" y="6721002"/>
            <a:ext cx="1298223" cy="129822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19" lIns="44519" bIns="44519" rIns="44519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25726" y="8077632"/>
            <a:ext cx="1298223" cy="129822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19" lIns="44519" bIns="44519" rIns="44519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005234" y="7924785"/>
            <a:ext cx="1626008" cy="1626008"/>
          </a:xfrm>
          <a:custGeom>
            <a:avLst/>
            <a:gdLst/>
            <a:ahLst/>
            <a:cxnLst/>
            <a:rect r="r" b="b" t="t" l="l"/>
            <a:pathLst>
              <a:path h="1626008" w="1626008">
                <a:moveTo>
                  <a:pt x="0" y="0"/>
                </a:moveTo>
                <a:lnTo>
                  <a:pt x="1626009" y="0"/>
                </a:lnTo>
                <a:lnTo>
                  <a:pt x="1626009" y="1626009"/>
                </a:lnTo>
                <a:lnTo>
                  <a:pt x="0" y="16260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6166968" y="8086520"/>
            <a:ext cx="1298223" cy="129822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19" lIns="44519" bIns="44519" rIns="44519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03312" y="7267438"/>
            <a:ext cx="3111996" cy="2271596"/>
            <a:chOff x="0" y="0"/>
            <a:chExt cx="819620" cy="5982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9620" cy="598281"/>
            </a:xfrm>
            <a:custGeom>
              <a:avLst/>
              <a:gdLst/>
              <a:ahLst/>
              <a:cxnLst/>
              <a:rect r="r" b="b" t="t" l="l"/>
              <a:pathLst>
                <a:path h="598281" w="819620">
                  <a:moveTo>
                    <a:pt x="32341" y="0"/>
                  </a:moveTo>
                  <a:lnTo>
                    <a:pt x="787279" y="0"/>
                  </a:lnTo>
                  <a:cubicBezTo>
                    <a:pt x="795857" y="0"/>
                    <a:pt x="804083" y="3407"/>
                    <a:pt x="810148" y="9472"/>
                  </a:cubicBezTo>
                  <a:cubicBezTo>
                    <a:pt x="816213" y="15538"/>
                    <a:pt x="819620" y="23764"/>
                    <a:pt x="819620" y="32341"/>
                  </a:cubicBezTo>
                  <a:lnTo>
                    <a:pt x="819620" y="565940"/>
                  </a:lnTo>
                  <a:cubicBezTo>
                    <a:pt x="819620" y="583801"/>
                    <a:pt x="805141" y="598281"/>
                    <a:pt x="787279" y="598281"/>
                  </a:cubicBezTo>
                  <a:lnTo>
                    <a:pt x="32341" y="598281"/>
                  </a:lnTo>
                  <a:cubicBezTo>
                    <a:pt x="23764" y="598281"/>
                    <a:pt x="15538" y="594873"/>
                    <a:pt x="9472" y="588808"/>
                  </a:cubicBezTo>
                  <a:cubicBezTo>
                    <a:pt x="3407" y="582743"/>
                    <a:pt x="0" y="574517"/>
                    <a:pt x="0" y="565940"/>
                  </a:cubicBezTo>
                  <a:lnTo>
                    <a:pt x="0" y="32341"/>
                  </a:lnTo>
                  <a:cubicBezTo>
                    <a:pt x="0" y="23764"/>
                    <a:pt x="3407" y="15538"/>
                    <a:pt x="9472" y="9472"/>
                  </a:cubicBezTo>
                  <a:cubicBezTo>
                    <a:pt x="15538" y="3407"/>
                    <a:pt x="23764" y="0"/>
                    <a:pt x="323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9620" cy="636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05250" y="3046276"/>
            <a:ext cx="3111996" cy="2271596"/>
            <a:chOff x="0" y="0"/>
            <a:chExt cx="819620" cy="5982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9620" cy="598281"/>
            </a:xfrm>
            <a:custGeom>
              <a:avLst/>
              <a:gdLst/>
              <a:ahLst/>
              <a:cxnLst/>
              <a:rect r="r" b="b" t="t" l="l"/>
              <a:pathLst>
                <a:path h="598281" w="819620">
                  <a:moveTo>
                    <a:pt x="32341" y="0"/>
                  </a:moveTo>
                  <a:lnTo>
                    <a:pt x="787279" y="0"/>
                  </a:lnTo>
                  <a:cubicBezTo>
                    <a:pt x="795857" y="0"/>
                    <a:pt x="804083" y="3407"/>
                    <a:pt x="810148" y="9472"/>
                  </a:cubicBezTo>
                  <a:cubicBezTo>
                    <a:pt x="816213" y="15538"/>
                    <a:pt x="819620" y="23764"/>
                    <a:pt x="819620" y="32341"/>
                  </a:cubicBezTo>
                  <a:lnTo>
                    <a:pt x="819620" y="565940"/>
                  </a:lnTo>
                  <a:cubicBezTo>
                    <a:pt x="819620" y="583801"/>
                    <a:pt x="805141" y="598281"/>
                    <a:pt x="787279" y="598281"/>
                  </a:cubicBezTo>
                  <a:lnTo>
                    <a:pt x="32341" y="598281"/>
                  </a:lnTo>
                  <a:cubicBezTo>
                    <a:pt x="23764" y="598281"/>
                    <a:pt x="15538" y="594873"/>
                    <a:pt x="9472" y="588808"/>
                  </a:cubicBezTo>
                  <a:cubicBezTo>
                    <a:pt x="3407" y="582743"/>
                    <a:pt x="0" y="574517"/>
                    <a:pt x="0" y="565940"/>
                  </a:cubicBezTo>
                  <a:lnTo>
                    <a:pt x="0" y="32341"/>
                  </a:lnTo>
                  <a:cubicBezTo>
                    <a:pt x="0" y="23764"/>
                    <a:pt x="3407" y="15538"/>
                    <a:pt x="9472" y="9472"/>
                  </a:cubicBezTo>
                  <a:cubicBezTo>
                    <a:pt x="15538" y="3407"/>
                    <a:pt x="23764" y="0"/>
                    <a:pt x="323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9620" cy="636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8847" y="7267438"/>
            <a:ext cx="3111996" cy="2271596"/>
            <a:chOff x="0" y="0"/>
            <a:chExt cx="819620" cy="5982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9620" cy="598281"/>
            </a:xfrm>
            <a:custGeom>
              <a:avLst/>
              <a:gdLst/>
              <a:ahLst/>
              <a:cxnLst/>
              <a:rect r="r" b="b" t="t" l="l"/>
              <a:pathLst>
                <a:path h="598281" w="819620">
                  <a:moveTo>
                    <a:pt x="32341" y="0"/>
                  </a:moveTo>
                  <a:lnTo>
                    <a:pt x="787279" y="0"/>
                  </a:lnTo>
                  <a:cubicBezTo>
                    <a:pt x="795857" y="0"/>
                    <a:pt x="804083" y="3407"/>
                    <a:pt x="810148" y="9472"/>
                  </a:cubicBezTo>
                  <a:cubicBezTo>
                    <a:pt x="816213" y="15538"/>
                    <a:pt x="819620" y="23764"/>
                    <a:pt x="819620" y="32341"/>
                  </a:cubicBezTo>
                  <a:lnTo>
                    <a:pt x="819620" y="565940"/>
                  </a:lnTo>
                  <a:cubicBezTo>
                    <a:pt x="819620" y="583801"/>
                    <a:pt x="805141" y="598281"/>
                    <a:pt x="787279" y="598281"/>
                  </a:cubicBezTo>
                  <a:lnTo>
                    <a:pt x="32341" y="598281"/>
                  </a:lnTo>
                  <a:cubicBezTo>
                    <a:pt x="23764" y="598281"/>
                    <a:pt x="15538" y="594873"/>
                    <a:pt x="9472" y="588808"/>
                  </a:cubicBezTo>
                  <a:cubicBezTo>
                    <a:pt x="3407" y="582743"/>
                    <a:pt x="0" y="574517"/>
                    <a:pt x="0" y="565940"/>
                  </a:cubicBezTo>
                  <a:lnTo>
                    <a:pt x="0" y="32341"/>
                  </a:lnTo>
                  <a:cubicBezTo>
                    <a:pt x="0" y="23764"/>
                    <a:pt x="3407" y="15538"/>
                    <a:pt x="9472" y="9472"/>
                  </a:cubicBezTo>
                  <a:cubicBezTo>
                    <a:pt x="15538" y="3407"/>
                    <a:pt x="23764" y="0"/>
                    <a:pt x="323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19620" cy="636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210667" y="3046276"/>
            <a:ext cx="3111996" cy="2271596"/>
            <a:chOff x="0" y="0"/>
            <a:chExt cx="819620" cy="5982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9620" cy="598281"/>
            </a:xfrm>
            <a:custGeom>
              <a:avLst/>
              <a:gdLst/>
              <a:ahLst/>
              <a:cxnLst/>
              <a:rect r="r" b="b" t="t" l="l"/>
              <a:pathLst>
                <a:path h="598281" w="819620">
                  <a:moveTo>
                    <a:pt x="32341" y="0"/>
                  </a:moveTo>
                  <a:lnTo>
                    <a:pt x="787279" y="0"/>
                  </a:lnTo>
                  <a:cubicBezTo>
                    <a:pt x="795857" y="0"/>
                    <a:pt x="804083" y="3407"/>
                    <a:pt x="810148" y="9472"/>
                  </a:cubicBezTo>
                  <a:cubicBezTo>
                    <a:pt x="816213" y="15538"/>
                    <a:pt x="819620" y="23764"/>
                    <a:pt x="819620" y="32341"/>
                  </a:cubicBezTo>
                  <a:lnTo>
                    <a:pt x="819620" y="565940"/>
                  </a:lnTo>
                  <a:cubicBezTo>
                    <a:pt x="819620" y="583801"/>
                    <a:pt x="805141" y="598281"/>
                    <a:pt x="787279" y="598281"/>
                  </a:cubicBezTo>
                  <a:lnTo>
                    <a:pt x="32341" y="598281"/>
                  </a:lnTo>
                  <a:cubicBezTo>
                    <a:pt x="23764" y="598281"/>
                    <a:pt x="15538" y="594873"/>
                    <a:pt x="9472" y="588808"/>
                  </a:cubicBezTo>
                  <a:cubicBezTo>
                    <a:pt x="3407" y="582743"/>
                    <a:pt x="0" y="574517"/>
                    <a:pt x="0" y="565940"/>
                  </a:cubicBezTo>
                  <a:lnTo>
                    <a:pt x="0" y="32341"/>
                  </a:lnTo>
                  <a:cubicBezTo>
                    <a:pt x="0" y="23764"/>
                    <a:pt x="3407" y="15538"/>
                    <a:pt x="9472" y="9472"/>
                  </a:cubicBezTo>
                  <a:cubicBezTo>
                    <a:pt x="15538" y="3407"/>
                    <a:pt x="23764" y="0"/>
                    <a:pt x="323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19620" cy="636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true" flipV="false" rot="0">
            <a:off x="14349468" y="7173913"/>
            <a:ext cx="3165840" cy="573809"/>
          </a:xfrm>
          <a:custGeom>
            <a:avLst/>
            <a:gdLst/>
            <a:ahLst/>
            <a:cxnLst/>
            <a:rect r="r" b="b" t="t" l="l"/>
            <a:pathLst>
              <a:path h="573809" w="3165840">
                <a:moveTo>
                  <a:pt x="3165840" y="0"/>
                </a:moveTo>
                <a:lnTo>
                  <a:pt x="0" y="0"/>
                </a:lnTo>
                <a:lnTo>
                  <a:pt x="0" y="573808"/>
                </a:lnTo>
                <a:lnTo>
                  <a:pt x="3165840" y="573808"/>
                </a:lnTo>
                <a:lnTo>
                  <a:pt x="316584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3905250" y="2952750"/>
            <a:ext cx="3165840" cy="573809"/>
          </a:xfrm>
          <a:custGeom>
            <a:avLst/>
            <a:gdLst/>
            <a:ahLst/>
            <a:cxnLst/>
            <a:rect r="r" b="b" t="t" l="l"/>
            <a:pathLst>
              <a:path h="573809" w="3165840">
                <a:moveTo>
                  <a:pt x="0" y="0"/>
                </a:moveTo>
                <a:lnTo>
                  <a:pt x="3165840" y="0"/>
                </a:lnTo>
                <a:lnTo>
                  <a:pt x="3165840" y="573809"/>
                </a:lnTo>
                <a:lnTo>
                  <a:pt x="0" y="573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718847" y="7173913"/>
            <a:ext cx="3165840" cy="573809"/>
          </a:xfrm>
          <a:custGeom>
            <a:avLst/>
            <a:gdLst/>
            <a:ahLst/>
            <a:cxnLst/>
            <a:rect r="r" b="b" t="t" l="l"/>
            <a:pathLst>
              <a:path h="573809" w="3165840">
                <a:moveTo>
                  <a:pt x="0" y="0"/>
                </a:moveTo>
                <a:lnTo>
                  <a:pt x="3165841" y="0"/>
                </a:lnTo>
                <a:lnTo>
                  <a:pt x="3165841" y="573808"/>
                </a:lnTo>
                <a:lnTo>
                  <a:pt x="0" y="5738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true" flipV="false" rot="0">
            <a:off x="11156823" y="2952750"/>
            <a:ext cx="3165840" cy="573809"/>
          </a:xfrm>
          <a:custGeom>
            <a:avLst/>
            <a:gdLst/>
            <a:ahLst/>
            <a:cxnLst/>
            <a:rect r="r" b="b" t="t" l="l"/>
            <a:pathLst>
              <a:path h="573809" w="3165840">
                <a:moveTo>
                  <a:pt x="3165840" y="0"/>
                </a:moveTo>
                <a:lnTo>
                  <a:pt x="0" y="0"/>
                </a:lnTo>
                <a:lnTo>
                  <a:pt x="0" y="573809"/>
                </a:lnTo>
                <a:lnTo>
                  <a:pt x="3165840" y="573809"/>
                </a:lnTo>
                <a:lnTo>
                  <a:pt x="316584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6482704" y="8402256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7964476" y="7087171"/>
            <a:ext cx="428625" cy="571500"/>
          </a:xfrm>
          <a:custGeom>
            <a:avLst/>
            <a:gdLst/>
            <a:ahLst/>
            <a:cxnLst/>
            <a:rect r="r" b="b" t="t" l="l"/>
            <a:pathLst>
              <a:path h="571500" w="428625">
                <a:moveTo>
                  <a:pt x="0" y="0"/>
                </a:moveTo>
                <a:lnTo>
                  <a:pt x="428625" y="0"/>
                </a:lnTo>
                <a:lnTo>
                  <a:pt x="4286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9773028" y="7036738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2" id="42"/>
          <p:cNvSpPr txBox="true"/>
          <p:nvPr/>
        </p:nvSpPr>
        <p:spPr>
          <a:xfrm rot="0">
            <a:off x="14736196" y="8015288"/>
            <a:ext cx="2476852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Expand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fully into new markets with strong foundations and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complete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operational readiness.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92320" y="7288414"/>
            <a:ext cx="25036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Full Launch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238134" y="3794125"/>
            <a:ext cx="2476852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evelop 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strat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egy,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es,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prepar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organiz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ion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 growth.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1731" y="8015288"/>
            <a:ext cx="2476852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oll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ect 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nsight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custome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needs,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mark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 opportu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ities,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titor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itioning.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423861" y="3067252"/>
            <a:ext cx="252226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St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rategy Setup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7458" y="7288414"/>
            <a:ext cx="252226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rket Research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543551" y="3794125"/>
            <a:ext cx="2476852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Launch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pilot projects, gather meaningful data, and refine strategies for scalable success.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299675" y="3067252"/>
            <a:ext cx="250360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Pilot Prog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ram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552476" y="1632585"/>
            <a:ext cx="71830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Highlight f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our quarterly</a:t>
            </a:r>
            <a:r>
              <a:rPr lang="en-US" sz="18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steps across business years.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552476" y="885825"/>
            <a:ext cx="718304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Tw</a:t>
            </a: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o-Year Expansion</a:t>
            </a:r>
          </a:p>
        </p:txBody>
      </p:sp>
      <p:sp>
        <p:nvSpPr>
          <p:cNvPr name="TextBox 52" id="52"/>
          <p:cNvSpPr txBox="true"/>
          <p:nvPr/>
        </p:nvSpPr>
        <p:spPr>
          <a:xfrm rot="-4126718">
            <a:off x="4710403" y="7973629"/>
            <a:ext cx="147405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Q1 2035</a:t>
            </a:r>
          </a:p>
        </p:txBody>
      </p:sp>
      <p:sp>
        <p:nvSpPr>
          <p:cNvPr name="TextBox 53" id="53"/>
          <p:cNvSpPr txBox="true"/>
          <p:nvPr/>
        </p:nvSpPr>
        <p:spPr>
          <a:xfrm rot="4475935">
            <a:off x="11920421" y="7996832"/>
            <a:ext cx="17475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Q4 2036</a:t>
            </a:r>
          </a:p>
        </p:txBody>
      </p:sp>
      <p:sp>
        <p:nvSpPr>
          <p:cNvPr name="TextBox 54" id="54"/>
          <p:cNvSpPr txBox="true"/>
          <p:nvPr/>
        </p:nvSpPr>
        <p:spPr>
          <a:xfrm rot="-1384741">
            <a:off x="6754704" y="5733797"/>
            <a:ext cx="166423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Q4 2035</a:t>
            </a:r>
          </a:p>
        </p:txBody>
      </p:sp>
      <p:sp>
        <p:nvSpPr>
          <p:cNvPr name="TextBox 55" id="55"/>
          <p:cNvSpPr txBox="true"/>
          <p:nvPr/>
        </p:nvSpPr>
        <p:spPr>
          <a:xfrm rot="1305169">
            <a:off x="9916557" y="5682372"/>
            <a:ext cx="147405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Q1 2036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11141463" y="8393368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157354" y="-2663804"/>
            <a:ext cx="5979726" cy="10436043"/>
          </a:xfrm>
          <a:custGeom>
            <a:avLst/>
            <a:gdLst/>
            <a:ahLst/>
            <a:cxnLst/>
            <a:rect r="r" b="b" t="t" l="l"/>
            <a:pathLst>
              <a:path h="10436043" w="5979726">
                <a:moveTo>
                  <a:pt x="0" y="0"/>
                </a:moveTo>
                <a:lnTo>
                  <a:pt x="5979726" y="0"/>
                </a:lnTo>
                <a:lnTo>
                  <a:pt x="5979726" y="10436044"/>
                </a:lnTo>
                <a:lnTo>
                  <a:pt x="0" y="10436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008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30018" y="4984612"/>
            <a:ext cx="1238096" cy="141818"/>
          </a:xfrm>
          <a:custGeom>
            <a:avLst/>
            <a:gdLst/>
            <a:ahLst/>
            <a:cxnLst/>
            <a:rect r="r" b="b" t="t" l="l"/>
            <a:pathLst>
              <a:path h="141818" w="1238096">
                <a:moveTo>
                  <a:pt x="0" y="0"/>
                </a:moveTo>
                <a:lnTo>
                  <a:pt x="1238096" y="0"/>
                </a:lnTo>
                <a:lnTo>
                  <a:pt x="1238096" y="141818"/>
                </a:lnTo>
                <a:lnTo>
                  <a:pt x="0" y="141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355156" y="5055521"/>
            <a:ext cx="1617469" cy="659479"/>
            <a:chOff x="0" y="0"/>
            <a:chExt cx="996756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6756" cy="406400"/>
            </a:xfrm>
            <a:custGeom>
              <a:avLst/>
              <a:gdLst/>
              <a:ahLst/>
              <a:cxnLst/>
              <a:rect r="r" b="b" t="t" l="l"/>
              <a:pathLst>
                <a:path h="406400" w="996756">
                  <a:moveTo>
                    <a:pt x="793556" y="0"/>
                  </a:moveTo>
                  <a:cubicBezTo>
                    <a:pt x="905780" y="0"/>
                    <a:pt x="996756" y="90976"/>
                    <a:pt x="996756" y="203200"/>
                  </a:cubicBezTo>
                  <a:cubicBezTo>
                    <a:pt x="996756" y="315424"/>
                    <a:pt x="905780" y="406400"/>
                    <a:pt x="793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575D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9675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2035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559150" y="3863243"/>
            <a:ext cx="1238096" cy="141818"/>
          </a:xfrm>
          <a:custGeom>
            <a:avLst/>
            <a:gdLst/>
            <a:ahLst/>
            <a:cxnLst/>
            <a:rect r="r" b="b" t="t" l="l"/>
            <a:pathLst>
              <a:path h="141818" w="1238096">
                <a:moveTo>
                  <a:pt x="0" y="0"/>
                </a:moveTo>
                <a:lnTo>
                  <a:pt x="1238095" y="0"/>
                </a:lnTo>
                <a:lnTo>
                  <a:pt x="1238095" y="141818"/>
                </a:lnTo>
                <a:lnTo>
                  <a:pt x="0" y="141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384288" y="3934152"/>
            <a:ext cx="1617469" cy="659479"/>
            <a:chOff x="0" y="0"/>
            <a:chExt cx="996756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756" cy="406400"/>
            </a:xfrm>
            <a:custGeom>
              <a:avLst/>
              <a:gdLst/>
              <a:ahLst/>
              <a:cxnLst/>
              <a:rect r="r" b="b" t="t" l="l"/>
              <a:pathLst>
                <a:path h="406400" w="996756">
                  <a:moveTo>
                    <a:pt x="793556" y="0"/>
                  </a:moveTo>
                  <a:cubicBezTo>
                    <a:pt x="905780" y="0"/>
                    <a:pt x="996756" y="90976"/>
                    <a:pt x="996756" y="203200"/>
                  </a:cubicBezTo>
                  <a:cubicBezTo>
                    <a:pt x="996756" y="315424"/>
                    <a:pt x="905780" y="406400"/>
                    <a:pt x="793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1B3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9675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2036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460376" y="3863243"/>
            <a:ext cx="1238096" cy="141818"/>
          </a:xfrm>
          <a:custGeom>
            <a:avLst/>
            <a:gdLst/>
            <a:ahLst/>
            <a:cxnLst/>
            <a:rect r="r" b="b" t="t" l="l"/>
            <a:pathLst>
              <a:path h="141818" w="1238096">
                <a:moveTo>
                  <a:pt x="0" y="0"/>
                </a:moveTo>
                <a:lnTo>
                  <a:pt x="1238095" y="0"/>
                </a:lnTo>
                <a:lnTo>
                  <a:pt x="1238095" y="141818"/>
                </a:lnTo>
                <a:lnTo>
                  <a:pt x="0" y="141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5514" y="3934152"/>
            <a:ext cx="1617469" cy="659479"/>
            <a:chOff x="0" y="0"/>
            <a:chExt cx="996756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6756" cy="406400"/>
            </a:xfrm>
            <a:custGeom>
              <a:avLst/>
              <a:gdLst/>
              <a:ahLst/>
              <a:cxnLst/>
              <a:rect r="r" b="b" t="t" l="l"/>
              <a:pathLst>
                <a:path h="406400" w="996756">
                  <a:moveTo>
                    <a:pt x="793556" y="0"/>
                  </a:moveTo>
                  <a:cubicBezTo>
                    <a:pt x="905780" y="0"/>
                    <a:pt x="996756" y="90976"/>
                    <a:pt x="996756" y="203200"/>
                  </a:cubicBezTo>
                  <a:cubicBezTo>
                    <a:pt x="996756" y="315424"/>
                    <a:pt x="905780" y="406400"/>
                    <a:pt x="793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4C36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9675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2037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490236" y="4984612"/>
            <a:ext cx="1238096" cy="141818"/>
          </a:xfrm>
          <a:custGeom>
            <a:avLst/>
            <a:gdLst/>
            <a:ahLst/>
            <a:cxnLst/>
            <a:rect r="r" b="b" t="t" l="l"/>
            <a:pathLst>
              <a:path h="141818" w="1238096">
                <a:moveTo>
                  <a:pt x="0" y="0"/>
                </a:moveTo>
                <a:lnTo>
                  <a:pt x="1238096" y="0"/>
                </a:lnTo>
                <a:lnTo>
                  <a:pt x="1238096" y="141818"/>
                </a:lnTo>
                <a:lnTo>
                  <a:pt x="0" y="141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315374" y="5055521"/>
            <a:ext cx="1617469" cy="659479"/>
            <a:chOff x="0" y="0"/>
            <a:chExt cx="996756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6756" cy="406400"/>
            </a:xfrm>
            <a:custGeom>
              <a:avLst/>
              <a:gdLst/>
              <a:ahLst/>
              <a:cxnLst/>
              <a:rect r="r" b="b" t="t" l="l"/>
              <a:pathLst>
                <a:path h="406400" w="996756">
                  <a:moveTo>
                    <a:pt x="793556" y="0"/>
                  </a:moveTo>
                  <a:cubicBezTo>
                    <a:pt x="905780" y="0"/>
                    <a:pt x="996756" y="90976"/>
                    <a:pt x="996756" y="203200"/>
                  </a:cubicBezTo>
                  <a:cubicBezTo>
                    <a:pt x="996756" y="315424"/>
                    <a:pt x="905780" y="406400"/>
                    <a:pt x="793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E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9675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2038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316116" y="7226198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7042622" y="7226198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0769128" y="7226198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4495037" y="7226198"/>
            <a:ext cx="477444" cy="476250"/>
          </a:xfrm>
          <a:custGeom>
            <a:avLst/>
            <a:gdLst/>
            <a:ahLst/>
            <a:cxnLst/>
            <a:rect r="r" b="b" t="t" l="l"/>
            <a:pathLst>
              <a:path h="476250" w="477444">
                <a:moveTo>
                  <a:pt x="0" y="0"/>
                </a:moveTo>
                <a:lnTo>
                  <a:pt x="477444" y="0"/>
                </a:lnTo>
                <a:lnTo>
                  <a:pt x="47744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2020748" y="8495770"/>
            <a:ext cx="306698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 strat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egic priorities aligned with emerging opportunities in target markets.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20748" y="8036665"/>
            <a:ext cx="306698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rategy Set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47254" y="8495770"/>
            <a:ext cx="306698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 initiatives carefully and refine approaches based on market responses.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47254" y="8036665"/>
            <a:ext cx="306698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Pil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ot Run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73760" y="8495770"/>
            <a:ext cx="306698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pand into new areas while scaling operations for sustainable success.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73760" y="8036665"/>
            <a:ext cx="306698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Gr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owth Push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00265" y="8495770"/>
            <a:ext cx="306698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Analyz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results thoroughly and ensure strategies achieve intended business growth.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00265" y="8036665"/>
            <a:ext cx="306698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Perf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ormance Review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52476" y="6102985"/>
            <a:ext cx="71830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ighl</a:t>
            </a:r>
            <a:r>
              <a:rPr lang="en-US" sz="18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ight milestones for sustainable business expansion.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52476" y="5356225"/>
            <a:ext cx="718304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Strat</a:t>
            </a: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egic Expansion Plan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79801" y="-3003114"/>
            <a:ext cx="15176551" cy="16853814"/>
            <a:chOff x="0" y="0"/>
            <a:chExt cx="20235401" cy="22471752"/>
          </a:xfrm>
        </p:grpSpPr>
        <p:sp>
          <p:nvSpPr>
            <p:cNvPr name="Freeform 3" id="3"/>
            <p:cNvSpPr/>
            <p:nvPr/>
          </p:nvSpPr>
          <p:spPr>
            <a:xfrm flipH="false" flipV="false" rot="3696299">
              <a:off x="-101934" y="4322927"/>
              <a:ext cx="15033459" cy="8730876"/>
            </a:xfrm>
            <a:custGeom>
              <a:avLst/>
              <a:gdLst/>
              <a:ahLst/>
              <a:cxnLst/>
              <a:rect r="r" b="b" t="t" l="l"/>
              <a:pathLst>
                <a:path h="8730876" w="15033459">
                  <a:moveTo>
                    <a:pt x="0" y="0"/>
                  </a:moveTo>
                  <a:lnTo>
                    <a:pt x="15033459" y="0"/>
                  </a:lnTo>
                  <a:lnTo>
                    <a:pt x="15033459" y="8730876"/>
                  </a:lnTo>
                  <a:lnTo>
                    <a:pt x="0" y="873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5862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3696299">
              <a:off x="9171746" y="11723890"/>
              <a:ext cx="9790837" cy="8730876"/>
            </a:xfrm>
            <a:custGeom>
              <a:avLst/>
              <a:gdLst/>
              <a:ahLst/>
              <a:cxnLst/>
              <a:rect r="r" b="b" t="t" l="l"/>
              <a:pathLst>
                <a:path h="8730876" w="9790837">
                  <a:moveTo>
                    <a:pt x="0" y="0"/>
                  </a:moveTo>
                  <a:lnTo>
                    <a:pt x="9790836" y="0"/>
                  </a:lnTo>
                  <a:lnTo>
                    <a:pt x="9790836" y="8730876"/>
                  </a:lnTo>
                  <a:lnTo>
                    <a:pt x="0" y="8730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77903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03497" y="1521170"/>
            <a:ext cx="2270079" cy="1435586"/>
          </a:xfrm>
          <a:custGeom>
            <a:avLst/>
            <a:gdLst/>
            <a:ahLst/>
            <a:cxnLst/>
            <a:rect r="r" b="b" t="t" l="l"/>
            <a:pathLst>
              <a:path h="1435586" w="2270079">
                <a:moveTo>
                  <a:pt x="0" y="0"/>
                </a:moveTo>
                <a:lnTo>
                  <a:pt x="2270079" y="0"/>
                </a:lnTo>
                <a:lnTo>
                  <a:pt x="2270079" y="1435586"/>
                </a:lnTo>
                <a:lnTo>
                  <a:pt x="0" y="1435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8678" r="-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59430" y="3040309"/>
            <a:ext cx="2270079" cy="1435586"/>
          </a:xfrm>
          <a:custGeom>
            <a:avLst/>
            <a:gdLst/>
            <a:ahLst/>
            <a:cxnLst/>
            <a:rect r="r" b="b" t="t" l="l"/>
            <a:pathLst>
              <a:path h="1435586" w="2270079">
                <a:moveTo>
                  <a:pt x="0" y="0"/>
                </a:moveTo>
                <a:lnTo>
                  <a:pt x="2270079" y="0"/>
                </a:lnTo>
                <a:lnTo>
                  <a:pt x="2270079" y="1435586"/>
                </a:lnTo>
                <a:lnTo>
                  <a:pt x="0" y="1435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678" r="-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13225" y="4942715"/>
            <a:ext cx="2270079" cy="1435586"/>
          </a:xfrm>
          <a:custGeom>
            <a:avLst/>
            <a:gdLst/>
            <a:ahLst/>
            <a:cxnLst/>
            <a:rect r="r" b="b" t="t" l="l"/>
            <a:pathLst>
              <a:path h="1435586" w="2270079">
                <a:moveTo>
                  <a:pt x="0" y="0"/>
                </a:moveTo>
                <a:lnTo>
                  <a:pt x="2270079" y="0"/>
                </a:lnTo>
                <a:lnTo>
                  <a:pt x="2270079" y="1435586"/>
                </a:lnTo>
                <a:lnTo>
                  <a:pt x="0" y="14355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8678" r="-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78671" y="6622497"/>
            <a:ext cx="2270079" cy="1435586"/>
          </a:xfrm>
          <a:custGeom>
            <a:avLst/>
            <a:gdLst/>
            <a:ahLst/>
            <a:cxnLst/>
            <a:rect r="r" b="b" t="t" l="l"/>
            <a:pathLst>
              <a:path h="1435586" w="2270079">
                <a:moveTo>
                  <a:pt x="0" y="0"/>
                </a:moveTo>
                <a:lnTo>
                  <a:pt x="2270079" y="0"/>
                </a:lnTo>
                <a:lnTo>
                  <a:pt x="2270079" y="1435586"/>
                </a:lnTo>
                <a:lnTo>
                  <a:pt x="0" y="14355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68678" r="-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91836" y="7898914"/>
            <a:ext cx="2270079" cy="1435586"/>
          </a:xfrm>
          <a:custGeom>
            <a:avLst/>
            <a:gdLst/>
            <a:ahLst/>
            <a:cxnLst/>
            <a:rect r="r" b="b" t="t" l="l"/>
            <a:pathLst>
              <a:path h="1435586" w="2270079">
                <a:moveTo>
                  <a:pt x="0" y="0"/>
                </a:moveTo>
                <a:lnTo>
                  <a:pt x="2270079" y="0"/>
                </a:lnTo>
                <a:lnTo>
                  <a:pt x="2270079" y="1435586"/>
                </a:lnTo>
                <a:lnTo>
                  <a:pt x="0" y="14355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68678" r="-4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78643" y="1695543"/>
            <a:ext cx="13559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Q1 - 2035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34576" y="3214683"/>
            <a:ext cx="13559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Q2 - 2035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88371" y="5117088"/>
            <a:ext cx="13559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Q3 - 2035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53818" y="6796870"/>
            <a:ext cx="13559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Q4 - 2035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66983" y="8073287"/>
            <a:ext cx="13559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Q1 - 2036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8677910"/>
            <a:ext cx="354005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Outlin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business grow</a:t>
            </a:r>
            <a:r>
              <a:rPr lang="en-US" sz="18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 across five clear quarterly stages.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6654800"/>
            <a:ext cx="3540054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Qua</a:t>
            </a: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rterly Expansion Roadmap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426180" y="1696404"/>
            <a:ext cx="438334" cy="343084"/>
            <a:chOff x="0" y="0"/>
            <a:chExt cx="519228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9228" cy="406400"/>
            </a:xfrm>
            <a:custGeom>
              <a:avLst/>
              <a:gdLst/>
              <a:ahLst/>
              <a:cxnLst/>
              <a:rect r="r" b="b" t="t" l="l"/>
              <a:pathLst>
                <a:path h="406400" w="519228">
                  <a:moveTo>
                    <a:pt x="316028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16028" y="406400"/>
                  </a:lnTo>
                  <a:lnTo>
                    <a:pt x="519228" y="203200"/>
                  </a:lnTo>
                  <a:lnTo>
                    <a:pt x="316028" y="0"/>
                  </a:lnTo>
                  <a:close/>
                </a:path>
              </a:pathLst>
            </a:custGeom>
            <a:solidFill>
              <a:srgbClr val="1575D5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492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784053" y="1573924"/>
            <a:ext cx="4040044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fy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ial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opportun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ties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tize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 on bu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ines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val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67818" y="1538381"/>
            <a:ext cx="163586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Opp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ortunity Review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994210" y="3215543"/>
            <a:ext cx="438334" cy="343084"/>
            <a:chOff x="0" y="0"/>
            <a:chExt cx="519228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9228" cy="406400"/>
            </a:xfrm>
            <a:custGeom>
              <a:avLst/>
              <a:gdLst/>
              <a:ahLst/>
              <a:cxnLst/>
              <a:rect r="r" b="b" t="t" l="l"/>
              <a:pathLst>
                <a:path h="406400" w="519228">
                  <a:moveTo>
                    <a:pt x="316028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16028" y="406400"/>
                  </a:lnTo>
                  <a:lnTo>
                    <a:pt x="519228" y="203200"/>
                  </a:lnTo>
                  <a:lnTo>
                    <a:pt x="316028" y="0"/>
                  </a:lnTo>
                  <a:close/>
                </a:path>
              </a:pathLst>
            </a:custGeom>
            <a:solidFill>
              <a:srgbClr val="01B3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0492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352083" y="3093063"/>
            <a:ext cx="4040505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Align 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urce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s,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budget,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wi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rowth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obj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ectives.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35849" y="3057520"/>
            <a:ext cx="163586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</a:t>
            </a:r>
            <a:r>
              <a:rPr lang="en-US" sz="18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ource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Align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77546" y="4959926"/>
            <a:ext cx="163586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Pil</a:t>
            </a:r>
            <a:r>
              <a:rPr lang="en-US" sz="18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ot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Market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93781" y="4995469"/>
            <a:ext cx="4040505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roduc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uct to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imited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 segment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 feedback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635907" y="5117949"/>
            <a:ext cx="438334" cy="343084"/>
            <a:chOff x="0" y="0"/>
            <a:chExt cx="519228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9228" cy="406400"/>
            </a:xfrm>
            <a:custGeom>
              <a:avLst/>
              <a:gdLst/>
              <a:ahLst/>
              <a:cxnLst/>
              <a:rect r="r" b="b" t="t" l="l"/>
              <a:pathLst>
                <a:path h="406400" w="519228">
                  <a:moveTo>
                    <a:pt x="316028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16028" y="406400"/>
                  </a:lnTo>
                  <a:lnTo>
                    <a:pt x="519228" y="203200"/>
                  </a:lnTo>
                  <a:lnTo>
                    <a:pt x="316028" y="0"/>
                  </a:lnTo>
                  <a:close/>
                </a:path>
              </a:pathLst>
            </a:custGeom>
            <a:solidFill>
              <a:srgbClr val="44C36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0492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762608" y="6639708"/>
            <a:ext cx="163586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Scale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Syst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ems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78842" y="6675251"/>
            <a:ext cx="4040505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engthen 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yste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cesses 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ha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ndl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larger operations.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020969" y="6797731"/>
            <a:ext cx="438334" cy="343084"/>
            <a:chOff x="0" y="0"/>
            <a:chExt cx="519228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9228" cy="406400"/>
            </a:xfrm>
            <a:custGeom>
              <a:avLst/>
              <a:gdLst/>
              <a:ahLst/>
              <a:cxnLst/>
              <a:rect r="r" b="b" t="t" l="l"/>
              <a:pathLst>
                <a:path h="406400" w="519228">
                  <a:moveTo>
                    <a:pt x="316028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16028" y="406400"/>
                  </a:lnTo>
                  <a:lnTo>
                    <a:pt x="519228" y="203200"/>
                  </a:lnTo>
                  <a:lnTo>
                    <a:pt x="316028" y="0"/>
                  </a:lnTo>
                  <a:close/>
                </a:path>
              </a:pathLst>
            </a:custGeom>
            <a:solidFill>
              <a:srgbClr val="B3C42E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0492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4972392" y="7951668"/>
            <a:ext cx="3040259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Ente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 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ew 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rket fully with prepared tea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an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strat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egi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614519" y="8074147"/>
            <a:ext cx="438334" cy="343084"/>
            <a:chOff x="0" y="0"/>
            <a:chExt cx="519228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9228" cy="406400"/>
            </a:xfrm>
            <a:custGeom>
              <a:avLst/>
              <a:gdLst/>
              <a:ahLst/>
              <a:cxnLst/>
              <a:rect r="r" b="b" t="t" l="l"/>
              <a:pathLst>
                <a:path h="406400" w="519228">
                  <a:moveTo>
                    <a:pt x="316028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16028" y="406400"/>
                  </a:lnTo>
                  <a:lnTo>
                    <a:pt x="519228" y="203200"/>
                  </a:lnTo>
                  <a:lnTo>
                    <a:pt x="316028" y="0"/>
                  </a:lnTo>
                  <a:close/>
                </a:path>
              </a:pathLst>
            </a:custGeom>
            <a:solidFill>
              <a:srgbClr val="FFBE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0492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356158" y="7916125"/>
            <a:ext cx="163586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</a:t>
            </a:r>
            <a:r>
              <a:rPr lang="en-US" sz="18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rket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Entry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733800"/>
            <a:ext cx="2281450" cy="2900252"/>
            <a:chOff x="0" y="0"/>
            <a:chExt cx="736600" cy="9363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6600" cy="936389"/>
            </a:xfrm>
            <a:custGeom>
              <a:avLst/>
              <a:gdLst/>
              <a:ahLst/>
              <a:cxnLst/>
              <a:rect r="r" b="b" t="t" l="l"/>
              <a:pathLst>
                <a:path h="936389" w="736600">
                  <a:moveTo>
                    <a:pt x="736600" y="0"/>
                  </a:moveTo>
                  <a:lnTo>
                    <a:pt x="736600" y="936389"/>
                  </a:lnTo>
                  <a:lnTo>
                    <a:pt x="368300" y="809389"/>
                  </a:lnTo>
                  <a:lnTo>
                    <a:pt x="0" y="936389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1575D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6600" cy="847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941310" y="6021340"/>
            <a:ext cx="2886200" cy="311121"/>
            <a:chOff x="0" y="0"/>
            <a:chExt cx="1520303" cy="1638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0303" cy="163883"/>
            </a:xfrm>
            <a:custGeom>
              <a:avLst/>
              <a:gdLst/>
              <a:ahLst/>
              <a:cxnLst/>
              <a:rect r="r" b="b" t="t" l="l"/>
              <a:pathLst>
                <a:path h="163883" w="1520303">
                  <a:moveTo>
                    <a:pt x="203200" y="163883"/>
                  </a:moveTo>
                  <a:lnTo>
                    <a:pt x="1317103" y="163883"/>
                  </a:lnTo>
                  <a:lnTo>
                    <a:pt x="1520303" y="0"/>
                  </a:lnTo>
                  <a:lnTo>
                    <a:pt x="0" y="0"/>
                  </a:lnTo>
                  <a:lnTo>
                    <a:pt x="203200" y="163883"/>
                  </a:lnTo>
                  <a:close/>
                </a:path>
              </a:pathLst>
            </a:custGeom>
            <a:solidFill>
              <a:srgbClr val="1575D5">
                <a:alpha val="6078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38100"/>
              <a:ext cx="1266303" cy="201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5336439" y="5344237"/>
            <a:ext cx="2886200" cy="311121"/>
            <a:chOff x="0" y="0"/>
            <a:chExt cx="1520303" cy="163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0303" cy="163883"/>
            </a:xfrm>
            <a:custGeom>
              <a:avLst/>
              <a:gdLst/>
              <a:ahLst/>
              <a:cxnLst/>
              <a:rect r="r" b="b" t="t" l="l"/>
              <a:pathLst>
                <a:path h="163883" w="1520303">
                  <a:moveTo>
                    <a:pt x="203200" y="163883"/>
                  </a:moveTo>
                  <a:lnTo>
                    <a:pt x="1317103" y="163883"/>
                  </a:lnTo>
                  <a:lnTo>
                    <a:pt x="1520303" y="0"/>
                  </a:lnTo>
                  <a:lnTo>
                    <a:pt x="0" y="0"/>
                  </a:lnTo>
                  <a:lnTo>
                    <a:pt x="203200" y="163883"/>
                  </a:lnTo>
                  <a:close/>
                </a:path>
              </a:pathLst>
            </a:custGeom>
            <a:solidFill>
              <a:srgbClr val="01B3A1">
                <a:alpha val="6078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38100"/>
              <a:ext cx="1266303" cy="201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734637" y="4669617"/>
            <a:ext cx="2886200" cy="311121"/>
            <a:chOff x="0" y="0"/>
            <a:chExt cx="1520303" cy="1638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0303" cy="163883"/>
            </a:xfrm>
            <a:custGeom>
              <a:avLst/>
              <a:gdLst/>
              <a:ahLst/>
              <a:cxnLst/>
              <a:rect r="r" b="b" t="t" l="l"/>
              <a:pathLst>
                <a:path h="163883" w="1520303">
                  <a:moveTo>
                    <a:pt x="203200" y="163883"/>
                  </a:moveTo>
                  <a:lnTo>
                    <a:pt x="1317103" y="163883"/>
                  </a:lnTo>
                  <a:lnTo>
                    <a:pt x="1520303" y="0"/>
                  </a:lnTo>
                  <a:lnTo>
                    <a:pt x="0" y="0"/>
                  </a:lnTo>
                  <a:lnTo>
                    <a:pt x="203200" y="163883"/>
                  </a:lnTo>
                  <a:close/>
                </a:path>
              </a:pathLst>
            </a:custGeom>
            <a:solidFill>
              <a:srgbClr val="44C36F">
                <a:alpha val="6078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38100"/>
              <a:ext cx="1266303" cy="201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2129766" y="3996325"/>
            <a:ext cx="2886200" cy="311121"/>
            <a:chOff x="0" y="0"/>
            <a:chExt cx="1520303" cy="1638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0303" cy="163883"/>
            </a:xfrm>
            <a:custGeom>
              <a:avLst/>
              <a:gdLst/>
              <a:ahLst/>
              <a:cxnLst/>
              <a:rect r="r" b="b" t="t" l="l"/>
              <a:pathLst>
                <a:path h="163883" w="1520303">
                  <a:moveTo>
                    <a:pt x="203200" y="163883"/>
                  </a:moveTo>
                  <a:lnTo>
                    <a:pt x="1317103" y="163883"/>
                  </a:lnTo>
                  <a:lnTo>
                    <a:pt x="1520303" y="0"/>
                  </a:lnTo>
                  <a:lnTo>
                    <a:pt x="0" y="0"/>
                  </a:lnTo>
                  <a:lnTo>
                    <a:pt x="203200" y="163883"/>
                  </a:lnTo>
                  <a:close/>
                </a:path>
              </a:pathLst>
            </a:custGeom>
            <a:solidFill>
              <a:srgbClr val="B3C42E">
                <a:alpha val="6078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38100"/>
              <a:ext cx="1266303" cy="201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15524895" y="3323032"/>
            <a:ext cx="2886200" cy="311121"/>
            <a:chOff x="0" y="0"/>
            <a:chExt cx="1520303" cy="1638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0303" cy="163883"/>
            </a:xfrm>
            <a:custGeom>
              <a:avLst/>
              <a:gdLst/>
              <a:ahLst/>
              <a:cxnLst/>
              <a:rect r="r" b="b" t="t" l="l"/>
              <a:pathLst>
                <a:path h="163883" w="1520303">
                  <a:moveTo>
                    <a:pt x="203200" y="163883"/>
                  </a:moveTo>
                  <a:lnTo>
                    <a:pt x="1317103" y="163883"/>
                  </a:lnTo>
                  <a:lnTo>
                    <a:pt x="1520303" y="0"/>
                  </a:lnTo>
                  <a:lnTo>
                    <a:pt x="0" y="0"/>
                  </a:lnTo>
                  <a:lnTo>
                    <a:pt x="203200" y="163883"/>
                  </a:lnTo>
                  <a:close/>
                </a:path>
              </a:pathLst>
            </a:custGeom>
            <a:solidFill>
              <a:srgbClr val="FFBE24">
                <a:alpha val="6078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38100"/>
              <a:ext cx="1266303" cy="201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918515" y="6380952"/>
            <a:ext cx="1686164" cy="1686164"/>
          </a:xfrm>
          <a:custGeom>
            <a:avLst/>
            <a:gdLst/>
            <a:ahLst/>
            <a:cxnLst/>
            <a:rect r="r" b="b" t="t" l="l"/>
            <a:pathLst>
              <a:path h="1686164" w="1686164">
                <a:moveTo>
                  <a:pt x="0" y="0"/>
                </a:moveTo>
                <a:lnTo>
                  <a:pt x="1686164" y="0"/>
                </a:lnTo>
                <a:lnTo>
                  <a:pt x="1686164" y="1686163"/>
                </a:lnTo>
                <a:lnTo>
                  <a:pt x="0" y="1686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093225" y="6555661"/>
            <a:ext cx="1511454" cy="151145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75D5"/>
            </a:solidFill>
            <a:ln w="142875" cap="sq">
              <a:solidFill>
                <a:srgbClr val="F9FAFC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349596" y="4056697"/>
            <a:ext cx="2281450" cy="2900252"/>
            <a:chOff x="0" y="0"/>
            <a:chExt cx="736600" cy="9363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6600" cy="936389"/>
            </a:xfrm>
            <a:custGeom>
              <a:avLst/>
              <a:gdLst/>
              <a:ahLst/>
              <a:cxnLst/>
              <a:rect r="r" b="b" t="t" l="l"/>
              <a:pathLst>
                <a:path h="936389" w="736600">
                  <a:moveTo>
                    <a:pt x="736600" y="0"/>
                  </a:moveTo>
                  <a:lnTo>
                    <a:pt x="736600" y="936389"/>
                  </a:lnTo>
                  <a:lnTo>
                    <a:pt x="368300" y="809389"/>
                  </a:lnTo>
                  <a:lnTo>
                    <a:pt x="0" y="936389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01B3A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36600" cy="847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5315611" y="5703849"/>
            <a:ext cx="1686164" cy="1686164"/>
          </a:xfrm>
          <a:custGeom>
            <a:avLst/>
            <a:gdLst/>
            <a:ahLst/>
            <a:cxnLst/>
            <a:rect r="r" b="b" t="t" l="l"/>
            <a:pathLst>
              <a:path h="1686164" w="1686164">
                <a:moveTo>
                  <a:pt x="0" y="0"/>
                </a:moveTo>
                <a:lnTo>
                  <a:pt x="1686164" y="0"/>
                </a:lnTo>
                <a:lnTo>
                  <a:pt x="1686164" y="1686163"/>
                </a:lnTo>
                <a:lnTo>
                  <a:pt x="0" y="1686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5490321" y="5878558"/>
            <a:ext cx="1511454" cy="151145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3A1"/>
            </a:solidFill>
            <a:ln w="142875" cap="sq">
              <a:solidFill>
                <a:srgbClr val="F9FAFC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744725" y="3382078"/>
            <a:ext cx="2281450" cy="2900252"/>
            <a:chOff x="0" y="0"/>
            <a:chExt cx="736600" cy="9363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6600" cy="936389"/>
            </a:xfrm>
            <a:custGeom>
              <a:avLst/>
              <a:gdLst/>
              <a:ahLst/>
              <a:cxnLst/>
              <a:rect r="r" b="b" t="t" l="l"/>
              <a:pathLst>
                <a:path h="936389" w="736600">
                  <a:moveTo>
                    <a:pt x="736600" y="0"/>
                  </a:moveTo>
                  <a:lnTo>
                    <a:pt x="736600" y="936389"/>
                  </a:lnTo>
                  <a:lnTo>
                    <a:pt x="368300" y="809389"/>
                  </a:lnTo>
                  <a:lnTo>
                    <a:pt x="0" y="936389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44C36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36600" cy="847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8710740" y="5029229"/>
            <a:ext cx="1686164" cy="1686164"/>
          </a:xfrm>
          <a:custGeom>
            <a:avLst/>
            <a:gdLst/>
            <a:ahLst/>
            <a:cxnLst/>
            <a:rect r="r" b="b" t="t" l="l"/>
            <a:pathLst>
              <a:path h="1686164" w="1686164">
                <a:moveTo>
                  <a:pt x="0" y="0"/>
                </a:moveTo>
                <a:lnTo>
                  <a:pt x="1686164" y="0"/>
                </a:lnTo>
                <a:lnTo>
                  <a:pt x="1686164" y="1686164"/>
                </a:lnTo>
                <a:lnTo>
                  <a:pt x="0" y="1686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8885450" y="5203939"/>
            <a:ext cx="1511454" cy="151145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C36F"/>
            </a:solidFill>
            <a:ln w="142875" cap="sq">
              <a:solidFill>
                <a:srgbClr val="F9FAFC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39854" y="2708785"/>
            <a:ext cx="2281450" cy="2900252"/>
            <a:chOff x="0" y="0"/>
            <a:chExt cx="736600" cy="93638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6600" cy="936389"/>
            </a:xfrm>
            <a:custGeom>
              <a:avLst/>
              <a:gdLst/>
              <a:ahLst/>
              <a:cxnLst/>
              <a:rect r="r" b="b" t="t" l="l"/>
              <a:pathLst>
                <a:path h="936389" w="736600">
                  <a:moveTo>
                    <a:pt x="736600" y="0"/>
                  </a:moveTo>
                  <a:lnTo>
                    <a:pt x="736600" y="936389"/>
                  </a:lnTo>
                  <a:lnTo>
                    <a:pt x="368300" y="809389"/>
                  </a:lnTo>
                  <a:lnTo>
                    <a:pt x="0" y="936389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B3C42E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36600" cy="847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2105869" y="4355937"/>
            <a:ext cx="1686164" cy="1686164"/>
          </a:xfrm>
          <a:custGeom>
            <a:avLst/>
            <a:gdLst/>
            <a:ahLst/>
            <a:cxnLst/>
            <a:rect r="r" b="b" t="t" l="l"/>
            <a:pathLst>
              <a:path h="1686164" w="1686164">
                <a:moveTo>
                  <a:pt x="0" y="0"/>
                </a:moveTo>
                <a:lnTo>
                  <a:pt x="1686164" y="0"/>
                </a:lnTo>
                <a:lnTo>
                  <a:pt x="1686164" y="1686163"/>
                </a:lnTo>
                <a:lnTo>
                  <a:pt x="0" y="1686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2280579" y="4530646"/>
            <a:ext cx="1511454" cy="1511454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C42E"/>
            </a:solidFill>
            <a:ln w="142875" cap="sq">
              <a:solidFill>
                <a:srgbClr val="F9FAFC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534983" y="2035493"/>
            <a:ext cx="2281450" cy="2900252"/>
            <a:chOff x="0" y="0"/>
            <a:chExt cx="736600" cy="93638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6600" cy="936389"/>
            </a:xfrm>
            <a:custGeom>
              <a:avLst/>
              <a:gdLst/>
              <a:ahLst/>
              <a:cxnLst/>
              <a:rect r="r" b="b" t="t" l="l"/>
              <a:pathLst>
                <a:path h="936389" w="736600">
                  <a:moveTo>
                    <a:pt x="736600" y="0"/>
                  </a:moveTo>
                  <a:lnTo>
                    <a:pt x="736600" y="936389"/>
                  </a:lnTo>
                  <a:lnTo>
                    <a:pt x="368300" y="809389"/>
                  </a:lnTo>
                  <a:lnTo>
                    <a:pt x="0" y="936389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36600" cy="847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5500998" y="3682644"/>
            <a:ext cx="1686164" cy="1686164"/>
          </a:xfrm>
          <a:custGeom>
            <a:avLst/>
            <a:gdLst/>
            <a:ahLst/>
            <a:cxnLst/>
            <a:rect r="r" b="b" t="t" l="l"/>
            <a:pathLst>
              <a:path h="1686164" w="1686164">
                <a:moveTo>
                  <a:pt x="0" y="0"/>
                </a:moveTo>
                <a:lnTo>
                  <a:pt x="1686164" y="0"/>
                </a:lnTo>
                <a:lnTo>
                  <a:pt x="1686164" y="1686164"/>
                </a:lnTo>
                <a:lnTo>
                  <a:pt x="0" y="1686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5675708" y="3857354"/>
            <a:ext cx="1511454" cy="1511454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E24"/>
            </a:solidFill>
            <a:ln w="142875" cap="sq">
              <a:solidFill>
                <a:srgbClr val="F9FAFC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2515577" y="6978013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912673" y="6300910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9307802" y="5626291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12702931" y="4952998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6" id="56"/>
          <p:cNvSpPr/>
          <p:nvPr/>
        </p:nvSpPr>
        <p:spPr>
          <a:xfrm flipH="false" flipV="false" rot="0">
            <a:off x="16098060" y="4279706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7" id="57"/>
          <p:cNvSpPr txBox="true"/>
          <p:nvPr/>
        </p:nvSpPr>
        <p:spPr>
          <a:xfrm rot="0">
            <a:off x="5179791" y="1458663"/>
            <a:ext cx="446463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rack f</a:t>
            </a:r>
            <a:r>
              <a:rPr lang="en-US" sz="18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ive structured phases guiding sustainable business growth journey.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2500" y="885825"/>
            <a:ext cx="4128681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Expansi</a:t>
            </a: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on Phase Timeline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37498" y="5140796"/>
            <a:ext cx="1511454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Phase</a:t>
            </a:r>
          </a:p>
          <a:p>
            <a:pPr algn="ctr">
              <a:lnSpc>
                <a:spcPts val="4679"/>
              </a:lnSpc>
            </a:pPr>
            <a:r>
              <a:rPr lang="en-US" b="true" sz="3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2500" y="8568372"/>
            <a:ext cx="265217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Research ma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 trends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customer needs before planning expansion steps.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52500" y="8109268"/>
            <a:ext cx="265217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rket Scan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734594" y="4463693"/>
            <a:ext cx="1511454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Phase</a:t>
            </a:r>
          </a:p>
          <a:p>
            <a:pPr algn="ctr">
              <a:lnSpc>
                <a:spcPts val="4679"/>
              </a:lnSpc>
            </a:pPr>
            <a:r>
              <a:rPr lang="en-US" b="true" sz="3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349596" y="7891269"/>
            <a:ext cx="2585504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 cl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ear busi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ls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create stra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for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targ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ets.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349596" y="7432165"/>
            <a:ext cx="258550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Plan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Build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129723" y="3789074"/>
            <a:ext cx="1511454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Phase</a:t>
            </a:r>
          </a:p>
          <a:p>
            <a:pPr algn="ctr">
              <a:lnSpc>
                <a:spcPts val="4679"/>
              </a:lnSpc>
            </a:pPr>
            <a:r>
              <a:rPr lang="en-US" b="true" sz="3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744725" y="7216650"/>
            <a:ext cx="2588573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 dedi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cate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 team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assign roles to drive project execution.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744725" y="6757545"/>
            <a:ext cx="265217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eam Setup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524852" y="3115782"/>
            <a:ext cx="1511454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Phase</a:t>
            </a:r>
          </a:p>
          <a:p>
            <a:pPr algn="ctr">
              <a:lnSpc>
                <a:spcPts val="4679"/>
              </a:lnSpc>
            </a:pPr>
            <a:r>
              <a:rPr lang="en-US" b="true" sz="3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139854" y="6543358"/>
            <a:ext cx="2588573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 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ucts in 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elec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ets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 feedbac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rovem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139854" y="6084253"/>
            <a:ext cx="265217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Pil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ot Launch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919981" y="2442489"/>
            <a:ext cx="1511454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Phase</a:t>
            </a:r>
          </a:p>
          <a:p>
            <a:pPr algn="ctr">
              <a:lnSpc>
                <a:spcPts val="4679"/>
              </a:lnSpc>
            </a:pPr>
            <a:r>
              <a:rPr lang="en-US" b="true" sz="35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534983" y="5870065"/>
            <a:ext cx="2652179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ly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new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with strong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erationa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iness.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534983" y="5410960"/>
            <a:ext cx="265217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ull Rollout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5873" y="848644"/>
            <a:ext cx="1997917" cy="969577"/>
            <a:chOff x="0" y="0"/>
            <a:chExt cx="971833" cy="471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1833" cy="471625"/>
            </a:xfrm>
            <a:custGeom>
              <a:avLst/>
              <a:gdLst/>
              <a:ahLst/>
              <a:cxnLst/>
              <a:rect r="r" b="b" t="t" l="l"/>
              <a:pathLst>
                <a:path h="471625" w="971833">
                  <a:moveTo>
                    <a:pt x="73625" y="0"/>
                  </a:moveTo>
                  <a:lnTo>
                    <a:pt x="898208" y="0"/>
                  </a:lnTo>
                  <a:cubicBezTo>
                    <a:pt x="938870" y="0"/>
                    <a:pt x="971833" y="32963"/>
                    <a:pt x="971833" y="73625"/>
                  </a:cubicBezTo>
                  <a:lnTo>
                    <a:pt x="971833" y="398000"/>
                  </a:lnTo>
                  <a:cubicBezTo>
                    <a:pt x="971833" y="438662"/>
                    <a:pt x="938870" y="471625"/>
                    <a:pt x="898208" y="471625"/>
                  </a:cubicBezTo>
                  <a:lnTo>
                    <a:pt x="73625" y="471625"/>
                  </a:lnTo>
                  <a:cubicBezTo>
                    <a:pt x="54098" y="471625"/>
                    <a:pt x="35372" y="463868"/>
                    <a:pt x="21564" y="450060"/>
                  </a:cubicBezTo>
                  <a:cubicBezTo>
                    <a:pt x="7757" y="436253"/>
                    <a:pt x="0" y="417526"/>
                    <a:pt x="0" y="398000"/>
                  </a:cubicBezTo>
                  <a:lnTo>
                    <a:pt x="0" y="73625"/>
                  </a:lnTo>
                  <a:cubicBezTo>
                    <a:pt x="0" y="32963"/>
                    <a:pt x="32963" y="0"/>
                    <a:pt x="73625" y="0"/>
                  </a:cubicBezTo>
                  <a:close/>
                </a:path>
              </a:pathLst>
            </a:custGeom>
            <a:solidFill>
              <a:srgbClr val="1575D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71833" cy="5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41440" y="848644"/>
            <a:ext cx="1409642" cy="969577"/>
            <a:chOff x="0" y="0"/>
            <a:chExt cx="685683" cy="471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5683" cy="471625"/>
            </a:xfrm>
            <a:custGeom>
              <a:avLst/>
              <a:gdLst/>
              <a:ahLst/>
              <a:cxnLst/>
              <a:rect r="r" b="b" t="t" l="l"/>
              <a:pathLst>
                <a:path h="471625" w="685683">
                  <a:moveTo>
                    <a:pt x="104350" y="0"/>
                  </a:moveTo>
                  <a:lnTo>
                    <a:pt x="581332" y="0"/>
                  </a:lnTo>
                  <a:cubicBezTo>
                    <a:pt x="638963" y="0"/>
                    <a:pt x="685683" y="46719"/>
                    <a:pt x="685683" y="104350"/>
                  </a:cubicBezTo>
                  <a:lnTo>
                    <a:pt x="685683" y="367274"/>
                  </a:lnTo>
                  <a:cubicBezTo>
                    <a:pt x="685683" y="394950"/>
                    <a:pt x="674689" y="421492"/>
                    <a:pt x="655119" y="441061"/>
                  </a:cubicBezTo>
                  <a:cubicBezTo>
                    <a:pt x="635550" y="460631"/>
                    <a:pt x="609008" y="471625"/>
                    <a:pt x="581332" y="471625"/>
                  </a:cubicBezTo>
                  <a:lnTo>
                    <a:pt x="104350" y="471625"/>
                  </a:lnTo>
                  <a:cubicBezTo>
                    <a:pt x="76675" y="471625"/>
                    <a:pt x="50133" y="460631"/>
                    <a:pt x="30563" y="441061"/>
                  </a:cubicBezTo>
                  <a:cubicBezTo>
                    <a:pt x="10994" y="421492"/>
                    <a:pt x="0" y="394950"/>
                    <a:pt x="0" y="367274"/>
                  </a:cubicBezTo>
                  <a:lnTo>
                    <a:pt x="0" y="104350"/>
                  </a:lnTo>
                  <a:cubicBezTo>
                    <a:pt x="0" y="76675"/>
                    <a:pt x="10994" y="50133"/>
                    <a:pt x="30563" y="30563"/>
                  </a:cubicBezTo>
                  <a:cubicBezTo>
                    <a:pt x="50133" y="10994"/>
                    <a:pt x="76675" y="0"/>
                    <a:pt x="10435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575D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85683" cy="53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9639472" y="1818221"/>
            <a:ext cx="1760285" cy="553788"/>
          </a:xfrm>
          <a:prstGeom prst="line">
            <a:avLst/>
          </a:prstGeom>
          <a:ln cap="flat" w="19050">
            <a:solidFill>
              <a:srgbClr val="D6D6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7913273" y="3341586"/>
            <a:ext cx="1726199" cy="553788"/>
          </a:xfrm>
          <a:prstGeom prst="line">
            <a:avLst/>
          </a:prstGeom>
          <a:ln cap="flat" w="19050">
            <a:solidFill>
              <a:srgbClr val="D6D6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913273" y="4864951"/>
            <a:ext cx="0" cy="553788"/>
          </a:xfrm>
          <a:prstGeom prst="line">
            <a:avLst/>
          </a:prstGeom>
          <a:ln cap="flat" w="19050">
            <a:solidFill>
              <a:srgbClr val="D6D6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913273" y="6388315"/>
            <a:ext cx="1726199" cy="553788"/>
          </a:xfrm>
          <a:prstGeom prst="line">
            <a:avLst/>
          </a:prstGeom>
          <a:ln cap="flat" w="19050">
            <a:solidFill>
              <a:srgbClr val="D6D6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639472" y="7911680"/>
            <a:ext cx="1760285" cy="555761"/>
          </a:xfrm>
          <a:prstGeom prst="line">
            <a:avLst/>
          </a:prstGeom>
          <a:ln cap="flat" w="19050">
            <a:solidFill>
              <a:srgbClr val="D6D6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-5400000">
            <a:off x="10914968" y="1098916"/>
            <a:ext cx="969577" cy="469033"/>
          </a:xfrm>
          <a:custGeom>
            <a:avLst/>
            <a:gdLst/>
            <a:ahLst/>
            <a:cxnLst/>
            <a:rect r="r" b="b" t="t" l="l"/>
            <a:pathLst>
              <a:path h="469033" w="969577">
                <a:moveTo>
                  <a:pt x="0" y="0"/>
                </a:moveTo>
                <a:lnTo>
                  <a:pt x="969577" y="0"/>
                </a:lnTo>
                <a:lnTo>
                  <a:pt x="969577" y="469033"/>
                </a:lnTo>
                <a:lnTo>
                  <a:pt x="0" y="469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235588" y="2372009"/>
            <a:ext cx="1997917" cy="969577"/>
            <a:chOff x="0" y="0"/>
            <a:chExt cx="971833" cy="4716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1833" cy="471625"/>
            </a:xfrm>
            <a:custGeom>
              <a:avLst/>
              <a:gdLst/>
              <a:ahLst/>
              <a:cxnLst/>
              <a:rect r="r" b="b" t="t" l="l"/>
              <a:pathLst>
                <a:path h="471625" w="971833">
                  <a:moveTo>
                    <a:pt x="73625" y="0"/>
                  </a:moveTo>
                  <a:lnTo>
                    <a:pt x="898208" y="0"/>
                  </a:lnTo>
                  <a:cubicBezTo>
                    <a:pt x="938870" y="0"/>
                    <a:pt x="971833" y="32963"/>
                    <a:pt x="971833" y="73625"/>
                  </a:cubicBezTo>
                  <a:lnTo>
                    <a:pt x="971833" y="398000"/>
                  </a:lnTo>
                  <a:cubicBezTo>
                    <a:pt x="971833" y="438662"/>
                    <a:pt x="938870" y="471625"/>
                    <a:pt x="898208" y="471625"/>
                  </a:cubicBezTo>
                  <a:lnTo>
                    <a:pt x="73625" y="471625"/>
                  </a:lnTo>
                  <a:cubicBezTo>
                    <a:pt x="54098" y="471625"/>
                    <a:pt x="35372" y="463868"/>
                    <a:pt x="21564" y="450060"/>
                  </a:cubicBezTo>
                  <a:cubicBezTo>
                    <a:pt x="7757" y="436253"/>
                    <a:pt x="0" y="417526"/>
                    <a:pt x="0" y="398000"/>
                  </a:cubicBezTo>
                  <a:lnTo>
                    <a:pt x="0" y="73625"/>
                  </a:lnTo>
                  <a:cubicBezTo>
                    <a:pt x="0" y="32963"/>
                    <a:pt x="32963" y="0"/>
                    <a:pt x="73625" y="0"/>
                  </a:cubicBezTo>
                  <a:close/>
                </a:path>
              </a:pathLst>
            </a:custGeom>
            <a:solidFill>
              <a:srgbClr val="0497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71833" cy="5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81156" y="2372009"/>
            <a:ext cx="1409642" cy="969577"/>
            <a:chOff x="0" y="0"/>
            <a:chExt cx="685683" cy="4716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683" cy="471625"/>
            </a:xfrm>
            <a:custGeom>
              <a:avLst/>
              <a:gdLst/>
              <a:ahLst/>
              <a:cxnLst/>
              <a:rect r="r" b="b" t="t" l="l"/>
              <a:pathLst>
                <a:path h="471625" w="685683">
                  <a:moveTo>
                    <a:pt x="104350" y="0"/>
                  </a:moveTo>
                  <a:lnTo>
                    <a:pt x="581332" y="0"/>
                  </a:lnTo>
                  <a:cubicBezTo>
                    <a:pt x="638963" y="0"/>
                    <a:pt x="685683" y="46719"/>
                    <a:pt x="685683" y="104350"/>
                  </a:cubicBezTo>
                  <a:lnTo>
                    <a:pt x="685683" y="367274"/>
                  </a:lnTo>
                  <a:cubicBezTo>
                    <a:pt x="685683" y="394950"/>
                    <a:pt x="674689" y="421492"/>
                    <a:pt x="655119" y="441061"/>
                  </a:cubicBezTo>
                  <a:cubicBezTo>
                    <a:pt x="635550" y="460631"/>
                    <a:pt x="609008" y="471625"/>
                    <a:pt x="581332" y="471625"/>
                  </a:cubicBezTo>
                  <a:lnTo>
                    <a:pt x="104350" y="471625"/>
                  </a:lnTo>
                  <a:cubicBezTo>
                    <a:pt x="76675" y="471625"/>
                    <a:pt x="50133" y="460631"/>
                    <a:pt x="30563" y="441061"/>
                  </a:cubicBezTo>
                  <a:cubicBezTo>
                    <a:pt x="10994" y="421492"/>
                    <a:pt x="0" y="394950"/>
                    <a:pt x="0" y="367274"/>
                  </a:cubicBezTo>
                  <a:lnTo>
                    <a:pt x="0" y="104350"/>
                  </a:lnTo>
                  <a:cubicBezTo>
                    <a:pt x="0" y="76675"/>
                    <a:pt x="10994" y="50133"/>
                    <a:pt x="30563" y="30563"/>
                  </a:cubicBezTo>
                  <a:cubicBezTo>
                    <a:pt x="50133" y="10994"/>
                    <a:pt x="76675" y="0"/>
                    <a:pt x="10435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497BC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85683" cy="53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5400000">
            <a:off x="9154684" y="2622281"/>
            <a:ext cx="969577" cy="469033"/>
          </a:xfrm>
          <a:custGeom>
            <a:avLst/>
            <a:gdLst/>
            <a:ahLst/>
            <a:cxnLst/>
            <a:rect r="r" b="b" t="t" l="l"/>
            <a:pathLst>
              <a:path h="469033" w="969577">
                <a:moveTo>
                  <a:pt x="0" y="0"/>
                </a:moveTo>
                <a:lnTo>
                  <a:pt x="969577" y="0"/>
                </a:lnTo>
                <a:lnTo>
                  <a:pt x="969577" y="469033"/>
                </a:lnTo>
                <a:lnTo>
                  <a:pt x="0" y="46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509390" y="3895374"/>
            <a:ext cx="1997917" cy="969577"/>
            <a:chOff x="0" y="0"/>
            <a:chExt cx="971833" cy="4716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1833" cy="471625"/>
            </a:xfrm>
            <a:custGeom>
              <a:avLst/>
              <a:gdLst/>
              <a:ahLst/>
              <a:cxnLst/>
              <a:rect r="r" b="b" t="t" l="l"/>
              <a:pathLst>
                <a:path h="471625" w="971833">
                  <a:moveTo>
                    <a:pt x="73625" y="0"/>
                  </a:moveTo>
                  <a:lnTo>
                    <a:pt x="898208" y="0"/>
                  </a:lnTo>
                  <a:cubicBezTo>
                    <a:pt x="938870" y="0"/>
                    <a:pt x="971833" y="32963"/>
                    <a:pt x="971833" y="73625"/>
                  </a:cubicBezTo>
                  <a:lnTo>
                    <a:pt x="971833" y="398000"/>
                  </a:lnTo>
                  <a:cubicBezTo>
                    <a:pt x="971833" y="438662"/>
                    <a:pt x="938870" y="471625"/>
                    <a:pt x="898208" y="471625"/>
                  </a:cubicBezTo>
                  <a:lnTo>
                    <a:pt x="73625" y="471625"/>
                  </a:lnTo>
                  <a:cubicBezTo>
                    <a:pt x="54098" y="471625"/>
                    <a:pt x="35372" y="463868"/>
                    <a:pt x="21564" y="450060"/>
                  </a:cubicBezTo>
                  <a:cubicBezTo>
                    <a:pt x="7757" y="436253"/>
                    <a:pt x="0" y="417526"/>
                    <a:pt x="0" y="398000"/>
                  </a:cubicBezTo>
                  <a:lnTo>
                    <a:pt x="0" y="73625"/>
                  </a:lnTo>
                  <a:cubicBezTo>
                    <a:pt x="0" y="32963"/>
                    <a:pt x="32963" y="0"/>
                    <a:pt x="73625" y="0"/>
                  </a:cubicBezTo>
                  <a:close/>
                </a:path>
              </a:pathLst>
            </a:custGeom>
            <a:solidFill>
              <a:srgbClr val="00B2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71833" cy="5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2037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754957" y="3895374"/>
            <a:ext cx="1409642" cy="969577"/>
            <a:chOff x="0" y="0"/>
            <a:chExt cx="685683" cy="4716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5683" cy="471625"/>
            </a:xfrm>
            <a:custGeom>
              <a:avLst/>
              <a:gdLst/>
              <a:ahLst/>
              <a:cxnLst/>
              <a:rect r="r" b="b" t="t" l="l"/>
              <a:pathLst>
                <a:path h="471625" w="685683">
                  <a:moveTo>
                    <a:pt x="104350" y="0"/>
                  </a:moveTo>
                  <a:lnTo>
                    <a:pt x="581332" y="0"/>
                  </a:lnTo>
                  <a:cubicBezTo>
                    <a:pt x="638963" y="0"/>
                    <a:pt x="685683" y="46719"/>
                    <a:pt x="685683" y="104350"/>
                  </a:cubicBezTo>
                  <a:lnTo>
                    <a:pt x="685683" y="367274"/>
                  </a:lnTo>
                  <a:cubicBezTo>
                    <a:pt x="685683" y="394950"/>
                    <a:pt x="674689" y="421492"/>
                    <a:pt x="655119" y="441061"/>
                  </a:cubicBezTo>
                  <a:cubicBezTo>
                    <a:pt x="635550" y="460631"/>
                    <a:pt x="609008" y="471625"/>
                    <a:pt x="581332" y="471625"/>
                  </a:cubicBezTo>
                  <a:lnTo>
                    <a:pt x="104350" y="471625"/>
                  </a:lnTo>
                  <a:cubicBezTo>
                    <a:pt x="76675" y="471625"/>
                    <a:pt x="50133" y="460631"/>
                    <a:pt x="30563" y="441061"/>
                  </a:cubicBezTo>
                  <a:cubicBezTo>
                    <a:pt x="10994" y="421492"/>
                    <a:pt x="0" y="394950"/>
                    <a:pt x="0" y="367274"/>
                  </a:cubicBezTo>
                  <a:lnTo>
                    <a:pt x="0" y="104350"/>
                  </a:lnTo>
                  <a:cubicBezTo>
                    <a:pt x="0" y="76675"/>
                    <a:pt x="10994" y="50133"/>
                    <a:pt x="30563" y="30563"/>
                  </a:cubicBezTo>
                  <a:cubicBezTo>
                    <a:pt x="50133" y="10994"/>
                    <a:pt x="76675" y="0"/>
                    <a:pt x="10435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2A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685683" cy="53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5400000">
            <a:off x="7428485" y="4145646"/>
            <a:ext cx="969577" cy="469033"/>
          </a:xfrm>
          <a:custGeom>
            <a:avLst/>
            <a:gdLst/>
            <a:ahLst/>
            <a:cxnLst/>
            <a:rect r="r" b="b" t="t" l="l"/>
            <a:pathLst>
              <a:path h="469033" w="969577">
                <a:moveTo>
                  <a:pt x="0" y="0"/>
                </a:moveTo>
                <a:lnTo>
                  <a:pt x="969577" y="0"/>
                </a:lnTo>
                <a:lnTo>
                  <a:pt x="969577" y="469033"/>
                </a:lnTo>
                <a:lnTo>
                  <a:pt x="0" y="4690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5509390" y="5418738"/>
            <a:ext cx="1997917" cy="969577"/>
            <a:chOff x="0" y="0"/>
            <a:chExt cx="971833" cy="4716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1833" cy="471625"/>
            </a:xfrm>
            <a:custGeom>
              <a:avLst/>
              <a:gdLst/>
              <a:ahLst/>
              <a:cxnLst/>
              <a:rect r="r" b="b" t="t" l="l"/>
              <a:pathLst>
                <a:path h="471625" w="971833">
                  <a:moveTo>
                    <a:pt x="73625" y="0"/>
                  </a:moveTo>
                  <a:lnTo>
                    <a:pt x="898208" y="0"/>
                  </a:lnTo>
                  <a:cubicBezTo>
                    <a:pt x="938870" y="0"/>
                    <a:pt x="971833" y="32963"/>
                    <a:pt x="971833" y="73625"/>
                  </a:cubicBezTo>
                  <a:lnTo>
                    <a:pt x="971833" y="398000"/>
                  </a:lnTo>
                  <a:cubicBezTo>
                    <a:pt x="971833" y="438662"/>
                    <a:pt x="938870" y="471625"/>
                    <a:pt x="898208" y="471625"/>
                  </a:cubicBezTo>
                  <a:lnTo>
                    <a:pt x="73625" y="471625"/>
                  </a:lnTo>
                  <a:cubicBezTo>
                    <a:pt x="54098" y="471625"/>
                    <a:pt x="35372" y="463868"/>
                    <a:pt x="21564" y="450060"/>
                  </a:cubicBezTo>
                  <a:cubicBezTo>
                    <a:pt x="7757" y="436253"/>
                    <a:pt x="0" y="417526"/>
                    <a:pt x="0" y="398000"/>
                  </a:cubicBezTo>
                  <a:lnTo>
                    <a:pt x="0" y="73625"/>
                  </a:lnTo>
                  <a:cubicBezTo>
                    <a:pt x="0" y="32963"/>
                    <a:pt x="32963" y="0"/>
                    <a:pt x="73625" y="0"/>
                  </a:cubicBezTo>
                  <a:close/>
                </a:path>
              </a:pathLst>
            </a:custGeom>
            <a:solidFill>
              <a:srgbClr val="44C36E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71833" cy="5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754957" y="5418738"/>
            <a:ext cx="1409642" cy="969577"/>
            <a:chOff x="0" y="0"/>
            <a:chExt cx="685683" cy="4716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5683" cy="471625"/>
            </a:xfrm>
            <a:custGeom>
              <a:avLst/>
              <a:gdLst/>
              <a:ahLst/>
              <a:cxnLst/>
              <a:rect r="r" b="b" t="t" l="l"/>
              <a:pathLst>
                <a:path h="471625" w="685683">
                  <a:moveTo>
                    <a:pt x="104350" y="0"/>
                  </a:moveTo>
                  <a:lnTo>
                    <a:pt x="581332" y="0"/>
                  </a:lnTo>
                  <a:cubicBezTo>
                    <a:pt x="638963" y="0"/>
                    <a:pt x="685683" y="46719"/>
                    <a:pt x="685683" y="104350"/>
                  </a:cubicBezTo>
                  <a:lnTo>
                    <a:pt x="685683" y="367274"/>
                  </a:lnTo>
                  <a:cubicBezTo>
                    <a:pt x="685683" y="394950"/>
                    <a:pt x="674689" y="421492"/>
                    <a:pt x="655119" y="441061"/>
                  </a:cubicBezTo>
                  <a:cubicBezTo>
                    <a:pt x="635550" y="460631"/>
                    <a:pt x="609008" y="471625"/>
                    <a:pt x="581332" y="471625"/>
                  </a:cubicBezTo>
                  <a:lnTo>
                    <a:pt x="104350" y="471625"/>
                  </a:lnTo>
                  <a:cubicBezTo>
                    <a:pt x="76675" y="471625"/>
                    <a:pt x="50133" y="460631"/>
                    <a:pt x="30563" y="441061"/>
                  </a:cubicBezTo>
                  <a:cubicBezTo>
                    <a:pt x="10994" y="421492"/>
                    <a:pt x="0" y="394950"/>
                    <a:pt x="0" y="367274"/>
                  </a:cubicBezTo>
                  <a:lnTo>
                    <a:pt x="0" y="104350"/>
                  </a:lnTo>
                  <a:cubicBezTo>
                    <a:pt x="0" y="76675"/>
                    <a:pt x="10994" y="50133"/>
                    <a:pt x="30563" y="30563"/>
                  </a:cubicBezTo>
                  <a:cubicBezTo>
                    <a:pt x="50133" y="10994"/>
                    <a:pt x="76675" y="0"/>
                    <a:pt x="10435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4C36E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685683" cy="53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7428485" y="5669011"/>
            <a:ext cx="969577" cy="469033"/>
          </a:xfrm>
          <a:custGeom>
            <a:avLst/>
            <a:gdLst/>
            <a:ahLst/>
            <a:cxnLst/>
            <a:rect r="r" b="b" t="t" l="l"/>
            <a:pathLst>
              <a:path h="469033" w="969577">
                <a:moveTo>
                  <a:pt x="0" y="0"/>
                </a:moveTo>
                <a:lnTo>
                  <a:pt x="969577" y="0"/>
                </a:lnTo>
                <a:lnTo>
                  <a:pt x="969577" y="469032"/>
                </a:lnTo>
                <a:lnTo>
                  <a:pt x="0" y="4690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7235588" y="6942103"/>
            <a:ext cx="1997917" cy="969577"/>
            <a:chOff x="0" y="0"/>
            <a:chExt cx="971833" cy="4716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1833" cy="471625"/>
            </a:xfrm>
            <a:custGeom>
              <a:avLst/>
              <a:gdLst/>
              <a:ahLst/>
              <a:cxnLst/>
              <a:rect r="r" b="b" t="t" l="l"/>
              <a:pathLst>
                <a:path h="471625" w="971833">
                  <a:moveTo>
                    <a:pt x="73625" y="0"/>
                  </a:moveTo>
                  <a:lnTo>
                    <a:pt x="898208" y="0"/>
                  </a:lnTo>
                  <a:cubicBezTo>
                    <a:pt x="938870" y="0"/>
                    <a:pt x="971833" y="32963"/>
                    <a:pt x="971833" y="73625"/>
                  </a:cubicBezTo>
                  <a:lnTo>
                    <a:pt x="971833" y="398000"/>
                  </a:lnTo>
                  <a:cubicBezTo>
                    <a:pt x="971833" y="438662"/>
                    <a:pt x="938870" y="471625"/>
                    <a:pt x="898208" y="471625"/>
                  </a:cubicBezTo>
                  <a:lnTo>
                    <a:pt x="73625" y="471625"/>
                  </a:lnTo>
                  <a:cubicBezTo>
                    <a:pt x="54098" y="471625"/>
                    <a:pt x="35372" y="463868"/>
                    <a:pt x="21564" y="450060"/>
                  </a:cubicBezTo>
                  <a:cubicBezTo>
                    <a:pt x="7757" y="436253"/>
                    <a:pt x="0" y="417526"/>
                    <a:pt x="0" y="398000"/>
                  </a:cubicBezTo>
                  <a:lnTo>
                    <a:pt x="0" y="73625"/>
                  </a:lnTo>
                  <a:cubicBezTo>
                    <a:pt x="0" y="32963"/>
                    <a:pt x="32963" y="0"/>
                    <a:pt x="73625" y="0"/>
                  </a:cubicBezTo>
                  <a:close/>
                </a:path>
              </a:pathLst>
            </a:custGeom>
            <a:solidFill>
              <a:srgbClr val="B3C42E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71833" cy="5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2039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81156" y="6942103"/>
            <a:ext cx="1409642" cy="969577"/>
            <a:chOff x="0" y="0"/>
            <a:chExt cx="685683" cy="4716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5683" cy="471625"/>
            </a:xfrm>
            <a:custGeom>
              <a:avLst/>
              <a:gdLst/>
              <a:ahLst/>
              <a:cxnLst/>
              <a:rect r="r" b="b" t="t" l="l"/>
              <a:pathLst>
                <a:path h="471625" w="685683">
                  <a:moveTo>
                    <a:pt x="104350" y="0"/>
                  </a:moveTo>
                  <a:lnTo>
                    <a:pt x="581332" y="0"/>
                  </a:lnTo>
                  <a:cubicBezTo>
                    <a:pt x="638963" y="0"/>
                    <a:pt x="685683" y="46719"/>
                    <a:pt x="685683" y="104350"/>
                  </a:cubicBezTo>
                  <a:lnTo>
                    <a:pt x="685683" y="367274"/>
                  </a:lnTo>
                  <a:cubicBezTo>
                    <a:pt x="685683" y="394950"/>
                    <a:pt x="674689" y="421492"/>
                    <a:pt x="655119" y="441061"/>
                  </a:cubicBezTo>
                  <a:cubicBezTo>
                    <a:pt x="635550" y="460631"/>
                    <a:pt x="609008" y="471625"/>
                    <a:pt x="581332" y="471625"/>
                  </a:cubicBezTo>
                  <a:lnTo>
                    <a:pt x="104350" y="471625"/>
                  </a:lnTo>
                  <a:cubicBezTo>
                    <a:pt x="76675" y="471625"/>
                    <a:pt x="50133" y="460631"/>
                    <a:pt x="30563" y="441061"/>
                  </a:cubicBezTo>
                  <a:cubicBezTo>
                    <a:pt x="10994" y="421492"/>
                    <a:pt x="0" y="394950"/>
                    <a:pt x="0" y="367274"/>
                  </a:cubicBezTo>
                  <a:lnTo>
                    <a:pt x="0" y="104350"/>
                  </a:lnTo>
                  <a:cubicBezTo>
                    <a:pt x="0" y="76675"/>
                    <a:pt x="10994" y="50133"/>
                    <a:pt x="30563" y="30563"/>
                  </a:cubicBezTo>
                  <a:cubicBezTo>
                    <a:pt x="50133" y="10994"/>
                    <a:pt x="76675" y="0"/>
                    <a:pt x="10435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3C42E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685683" cy="53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-5400000">
            <a:off x="9154684" y="7192375"/>
            <a:ext cx="969577" cy="469033"/>
          </a:xfrm>
          <a:custGeom>
            <a:avLst/>
            <a:gdLst/>
            <a:ahLst/>
            <a:cxnLst/>
            <a:rect r="r" b="b" t="t" l="l"/>
            <a:pathLst>
              <a:path h="469033" w="969577">
                <a:moveTo>
                  <a:pt x="0" y="0"/>
                </a:moveTo>
                <a:lnTo>
                  <a:pt x="969577" y="0"/>
                </a:lnTo>
                <a:lnTo>
                  <a:pt x="969577" y="469033"/>
                </a:lnTo>
                <a:lnTo>
                  <a:pt x="0" y="4690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8995873" y="8467441"/>
            <a:ext cx="1997917" cy="969577"/>
            <a:chOff x="0" y="0"/>
            <a:chExt cx="971833" cy="4716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1833" cy="471625"/>
            </a:xfrm>
            <a:custGeom>
              <a:avLst/>
              <a:gdLst/>
              <a:ahLst/>
              <a:cxnLst/>
              <a:rect r="r" b="b" t="t" l="l"/>
              <a:pathLst>
                <a:path h="471625" w="971833">
                  <a:moveTo>
                    <a:pt x="73625" y="0"/>
                  </a:moveTo>
                  <a:lnTo>
                    <a:pt x="898208" y="0"/>
                  </a:lnTo>
                  <a:cubicBezTo>
                    <a:pt x="938870" y="0"/>
                    <a:pt x="971833" y="32963"/>
                    <a:pt x="971833" y="73625"/>
                  </a:cubicBezTo>
                  <a:lnTo>
                    <a:pt x="971833" y="398000"/>
                  </a:lnTo>
                  <a:cubicBezTo>
                    <a:pt x="971833" y="438662"/>
                    <a:pt x="938870" y="471625"/>
                    <a:pt x="898208" y="471625"/>
                  </a:cubicBezTo>
                  <a:lnTo>
                    <a:pt x="73625" y="471625"/>
                  </a:lnTo>
                  <a:cubicBezTo>
                    <a:pt x="54098" y="471625"/>
                    <a:pt x="35372" y="463868"/>
                    <a:pt x="21564" y="450060"/>
                  </a:cubicBezTo>
                  <a:cubicBezTo>
                    <a:pt x="7757" y="436253"/>
                    <a:pt x="0" y="417526"/>
                    <a:pt x="0" y="398000"/>
                  </a:cubicBezTo>
                  <a:lnTo>
                    <a:pt x="0" y="73625"/>
                  </a:lnTo>
                  <a:cubicBezTo>
                    <a:pt x="0" y="32963"/>
                    <a:pt x="32963" y="0"/>
                    <a:pt x="73625" y="0"/>
                  </a:cubicBezTo>
                  <a:close/>
                </a:path>
              </a:pathLst>
            </a:custGeom>
            <a:solidFill>
              <a:srgbClr val="FFBE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71833" cy="51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2040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241440" y="8467441"/>
            <a:ext cx="1409642" cy="969577"/>
            <a:chOff x="0" y="0"/>
            <a:chExt cx="685683" cy="4716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5683" cy="471625"/>
            </a:xfrm>
            <a:custGeom>
              <a:avLst/>
              <a:gdLst/>
              <a:ahLst/>
              <a:cxnLst/>
              <a:rect r="r" b="b" t="t" l="l"/>
              <a:pathLst>
                <a:path h="471625" w="685683">
                  <a:moveTo>
                    <a:pt x="104350" y="0"/>
                  </a:moveTo>
                  <a:lnTo>
                    <a:pt x="581332" y="0"/>
                  </a:lnTo>
                  <a:cubicBezTo>
                    <a:pt x="638963" y="0"/>
                    <a:pt x="685683" y="46719"/>
                    <a:pt x="685683" y="104350"/>
                  </a:cubicBezTo>
                  <a:lnTo>
                    <a:pt x="685683" y="367274"/>
                  </a:lnTo>
                  <a:cubicBezTo>
                    <a:pt x="685683" y="394950"/>
                    <a:pt x="674689" y="421492"/>
                    <a:pt x="655119" y="441061"/>
                  </a:cubicBezTo>
                  <a:cubicBezTo>
                    <a:pt x="635550" y="460631"/>
                    <a:pt x="609008" y="471625"/>
                    <a:pt x="581332" y="471625"/>
                  </a:cubicBezTo>
                  <a:lnTo>
                    <a:pt x="104350" y="471625"/>
                  </a:lnTo>
                  <a:cubicBezTo>
                    <a:pt x="76675" y="471625"/>
                    <a:pt x="50133" y="460631"/>
                    <a:pt x="30563" y="441061"/>
                  </a:cubicBezTo>
                  <a:cubicBezTo>
                    <a:pt x="10994" y="421492"/>
                    <a:pt x="0" y="394950"/>
                    <a:pt x="0" y="367274"/>
                  </a:cubicBezTo>
                  <a:lnTo>
                    <a:pt x="0" y="104350"/>
                  </a:lnTo>
                  <a:cubicBezTo>
                    <a:pt x="0" y="76675"/>
                    <a:pt x="10994" y="50133"/>
                    <a:pt x="30563" y="30563"/>
                  </a:cubicBezTo>
                  <a:cubicBezTo>
                    <a:pt x="50133" y="10994"/>
                    <a:pt x="76675" y="0"/>
                    <a:pt x="10435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BE24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685683" cy="53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-5400000">
            <a:off x="10914968" y="8717713"/>
            <a:ext cx="969577" cy="469033"/>
          </a:xfrm>
          <a:custGeom>
            <a:avLst/>
            <a:gdLst/>
            <a:ahLst/>
            <a:cxnLst/>
            <a:rect r="r" b="b" t="t" l="l"/>
            <a:pathLst>
              <a:path h="469033" w="969577">
                <a:moveTo>
                  <a:pt x="0" y="0"/>
                </a:moveTo>
                <a:lnTo>
                  <a:pt x="969577" y="0"/>
                </a:lnTo>
                <a:lnTo>
                  <a:pt x="969577" y="469033"/>
                </a:lnTo>
                <a:lnTo>
                  <a:pt x="0" y="4690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3177189" y="1269649"/>
            <a:ext cx="407258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efi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vision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early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eadershi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nd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hared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growth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177189" y="810544"/>
            <a:ext cx="407258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ision Set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416904" y="2793014"/>
            <a:ext cx="407258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aft expansion plan including milestones, priorities, and measurable outcomes.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416904" y="2333909"/>
            <a:ext cx="407258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Plan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Draft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690706" y="4316378"/>
            <a:ext cx="407258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Unit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team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to focus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common 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ities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rol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es, 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onsibilit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ies.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690706" y="3857274"/>
            <a:ext cx="407258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eam Align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690706" y="5839743"/>
            <a:ext cx="407258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Validat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ucts through 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ll-scale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 launc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an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eedbac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coll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ion.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690706" y="5380638"/>
            <a:ext cx="407258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Pil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ot Test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416904" y="7363108"/>
            <a:ext cx="407258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ons in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lar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egi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su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pport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 b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trong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ex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ecution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teg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ies.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416904" y="6904003"/>
            <a:ext cx="407258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pand Reach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177189" y="8888446"/>
            <a:ext cx="407258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ess gro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rf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ormance an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adjus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 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trategi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for sustainable bus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15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ility.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177189" y="8429341"/>
            <a:ext cx="407258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Evaluat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Growth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52500" y="2366010"/>
            <a:ext cx="385428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8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six yearly milestones guiding long-term business expansion.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2500" y="885825"/>
            <a:ext cx="3854287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3599">
                <a:solidFill>
                  <a:srgbClr val="301F98"/>
                </a:solidFill>
                <a:latin typeface="DM Sans Bold"/>
                <a:ea typeface="DM Sans Bold"/>
                <a:cs typeface="DM Sans Bold"/>
                <a:sym typeface="DM Sans Bold"/>
              </a:rPr>
              <a:t>ix-Year Expansion Path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1802902" y="1071495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4" id="64"/>
          <p:cNvSpPr/>
          <p:nvPr/>
        </p:nvSpPr>
        <p:spPr>
          <a:xfrm flipH="false" flipV="false" rot="0">
            <a:off x="10042617" y="2594860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5" id="65"/>
          <p:cNvSpPr/>
          <p:nvPr/>
        </p:nvSpPr>
        <p:spPr>
          <a:xfrm flipH="false" flipV="false" rot="0">
            <a:off x="8316418" y="4118225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6" id="66"/>
          <p:cNvSpPr/>
          <p:nvPr/>
        </p:nvSpPr>
        <p:spPr>
          <a:xfrm flipH="false" flipV="false" rot="0">
            <a:off x="8316418" y="5641589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7" id="67"/>
          <p:cNvSpPr/>
          <p:nvPr/>
        </p:nvSpPr>
        <p:spPr>
          <a:xfrm flipH="false" flipV="false" rot="0">
            <a:off x="10042617" y="7164954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8" id="68"/>
          <p:cNvSpPr/>
          <p:nvPr/>
        </p:nvSpPr>
        <p:spPr>
          <a:xfrm flipH="false" flipV="false" rot="0">
            <a:off x="11802902" y="8690292"/>
            <a:ext cx="523875" cy="523875"/>
          </a:xfrm>
          <a:custGeom>
            <a:avLst/>
            <a:gdLst/>
            <a:ahLst/>
            <a:cxnLst/>
            <a:rect r="r" b="b" t="t" l="l"/>
            <a:pathLst>
              <a:path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DAHCbm6esI8</dc:identifier>
  <dcterms:modified xsi:type="dcterms:W3CDTF">2011-08-01T06:04:30Z</dcterms:modified>
  <cp:revision>1</cp:revision>
  <dc:title>Business Expansion Timeline Infographic Presentation</dc:title>
</cp:coreProperties>
</file>