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A61F2B"/>
          </a:solidFill>
          <a:ln>
            <a:solidFill>
              <a:srgbClr val="A6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686800" cy="43891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APPLICATION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9601200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Inventory overview • lifecycle visibility •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46888"/>
            <a:ext cx="155448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Aptos"/>
              </a:rPr>
              <a:t>ERGO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0" y="713232"/>
            <a:ext cx="1554480" cy="2286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Technology &amp;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2697480" cy="987552"/>
          </a:xfrm>
          <a:prstGeom prst="roundRect">
            <a:avLst/>
          </a:prstGeom>
          <a:solidFill>
            <a:srgbClr val="F5F6F8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481328"/>
            <a:ext cx="82296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A61F2B"/>
                </a:solidFill>
                <a:latin typeface="Aptos"/>
              </a:rPr>
              <a:t>115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8" y="1481328"/>
            <a:ext cx="16459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B3036"/>
                </a:solidFill>
                <a:latin typeface="Aptos"/>
              </a:rPr>
              <a:t>Total applications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389888"/>
            <a:ext cx="2697480" cy="987552"/>
          </a:xfrm>
          <a:prstGeom prst="roundRect">
            <a:avLst/>
          </a:prstGeom>
          <a:solidFill>
            <a:srgbClr val="F5F6F8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1296" y="1481328"/>
            <a:ext cx="82296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278458"/>
                </a:solidFill>
                <a:latin typeface="Aptos"/>
              </a:rPr>
              <a:t>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481328"/>
            <a:ext cx="16459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B3036"/>
                </a:solidFill>
                <a:latin typeface="Aptos"/>
              </a:rPr>
              <a:t>Registered in LeanIX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389888"/>
            <a:ext cx="2697480" cy="987552"/>
          </a:xfrm>
          <a:prstGeom prst="roundRect">
            <a:avLst/>
          </a:prstGeom>
          <a:solidFill>
            <a:srgbClr val="F5F6F8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481328"/>
            <a:ext cx="82296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606F80"/>
                </a:solidFill>
                <a:latin typeface="Aptos"/>
              </a:rPr>
              <a:t>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481328"/>
            <a:ext cx="16459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B3036"/>
                </a:solidFill>
                <a:latin typeface="Aptos"/>
              </a:rPr>
              <a:t>Desktop / bundle apps (X)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9136" y="1389888"/>
            <a:ext cx="2697480" cy="987552"/>
          </a:xfrm>
          <a:prstGeom prst="roundRect">
            <a:avLst/>
          </a:prstGeom>
          <a:solidFill>
            <a:srgbClr val="F5F6F8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481328"/>
            <a:ext cx="82296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CB8F1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1824" y="1481328"/>
            <a:ext cx="16459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B3036"/>
                </a:solidFill>
                <a:latin typeface="Aptos"/>
              </a:rPr>
              <a:t>LeanIX apps decommissioned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587752"/>
            <a:ext cx="548640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A61F2B"/>
                </a:solidFill>
                <a:latin typeface="Aptos"/>
              </a:rPr>
              <a:t>APPLICATION LIFECYCLE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587752"/>
            <a:ext cx="521208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A61F2B"/>
                </a:solidFill>
                <a:latin typeface="Aptos"/>
              </a:rPr>
              <a:t>APPLICATION TYPES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999232"/>
            <a:ext cx="1307592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B3036"/>
                </a:solidFill>
                <a:latin typeface="Aptos"/>
              </a:rPr>
              <a:t>Active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38528" y="3035808"/>
            <a:ext cx="3383280" cy="201168"/>
          </a:xfrm>
          <a:prstGeom prst="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38528" y="3035808"/>
            <a:ext cx="1554480" cy="201168"/>
          </a:xfrm>
          <a:prstGeom prst="rect">
            <a:avLst/>
          </a:prstGeom>
          <a:solidFill>
            <a:srgbClr val="278458"/>
          </a:solidFill>
          <a:ln>
            <a:solidFill>
              <a:srgbClr val="278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80" y="2990088"/>
            <a:ext cx="41148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B3036"/>
                </a:solidFill>
                <a:latin typeface="Aptos"/>
              </a:rPr>
              <a:t>34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392424"/>
            <a:ext cx="1307592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B3036"/>
                </a:solidFill>
                <a:latin typeface="Aptos"/>
              </a:rPr>
              <a:t>Phase 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3429000"/>
            <a:ext cx="3383280" cy="201168"/>
          </a:xfrm>
          <a:prstGeom prst="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38528" y="3429000"/>
            <a:ext cx="84582" cy="201168"/>
          </a:xfrm>
          <a:prstGeom prst="rect">
            <a:avLst/>
          </a:prstGeom>
          <a:solidFill>
            <a:srgbClr val="CB8F1F"/>
          </a:solidFill>
          <a:ln>
            <a:solidFill>
              <a:srgbClr val="CB8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80" y="3383280"/>
            <a:ext cx="41148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B3036"/>
                </a:solidFill>
                <a:latin typeface="Aptos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785615"/>
            <a:ext cx="1307592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B3036"/>
                </a:solidFill>
                <a:latin typeface="Aptos"/>
              </a:rPr>
              <a:t>Phase Out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38528" y="3822191"/>
            <a:ext cx="3383280" cy="201168"/>
          </a:xfrm>
          <a:prstGeom prst="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38528" y="3822191"/>
            <a:ext cx="137160" cy="201168"/>
          </a:xfrm>
          <a:prstGeom prst="rect">
            <a:avLst/>
          </a:prstGeom>
          <a:solidFill>
            <a:srgbClr val="C2524C"/>
          </a:solidFill>
          <a:ln>
            <a:solidFill>
              <a:srgbClr val="C25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40680" y="3776472"/>
            <a:ext cx="41148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B3036"/>
                </a:solidFill>
                <a:latin typeface="Apto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178808"/>
            <a:ext cx="1307592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B3036"/>
                </a:solidFill>
                <a:latin typeface="Aptos"/>
              </a:rPr>
              <a:t>Plan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38528" y="4215384"/>
            <a:ext cx="3383280" cy="201168"/>
          </a:xfrm>
          <a:prstGeom prst="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38528" y="4215384"/>
            <a:ext cx="84582" cy="201168"/>
          </a:xfrm>
          <a:prstGeom prst="rect">
            <a:avLst/>
          </a:prstGeom>
          <a:solidFill>
            <a:srgbClr val="606F80"/>
          </a:solidFill>
          <a:ln>
            <a:solidFill>
              <a:srgbClr val="606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40680" y="4169664"/>
            <a:ext cx="41148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B3036"/>
                </a:solidFill>
                <a:latin typeface="Aptos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72000"/>
            <a:ext cx="1307592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B3036"/>
                </a:solidFill>
                <a:latin typeface="Aptos"/>
              </a:rPr>
              <a:t>Retention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38528" y="4608576"/>
            <a:ext cx="3383280" cy="201168"/>
          </a:xfrm>
          <a:prstGeom prst="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938528" y="4608576"/>
            <a:ext cx="91440" cy="201168"/>
          </a:xfrm>
          <a:prstGeom prst="rect">
            <a:avLst/>
          </a:prstGeom>
          <a:solidFill>
            <a:srgbClr val="606F80"/>
          </a:solidFill>
          <a:ln>
            <a:solidFill>
              <a:srgbClr val="606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40680" y="4562856"/>
            <a:ext cx="41148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B3036"/>
                </a:solidFill>
                <a:latin typeface="Aptos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965192"/>
            <a:ext cx="1307592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B3036"/>
                </a:solidFill>
                <a:latin typeface="Aptos"/>
              </a:rPr>
              <a:t>End of Life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38528" y="5001768"/>
            <a:ext cx="3383280" cy="201168"/>
          </a:xfrm>
          <a:prstGeom prst="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40680" y="4956048"/>
            <a:ext cx="41148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100" b="0">
                <a:solidFill>
                  <a:srgbClr val="5B646E"/>
                </a:solidFill>
                <a:latin typeface="Aptos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5358383"/>
            <a:ext cx="1307592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2B3036"/>
                </a:solidFill>
                <a:latin typeface="Aptos"/>
              </a:rPr>
              <a:t>X – desktop apps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38528" y="5394959"/>
            <a:ext cx="3383280" cy="201168"/>
          </a:xfrm>
          <a:prstGeom prst="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938528" y="5394959"/>
            <a:ext cx="3383280" cy="201168"/>
          </a:xfrm>
          <a:prstGeom prst="rect">
            <a:avLst/>
          </a:prstGeom>
          <a:solidFill>
            <a:srgbClr val="2B3036"/>
          </a:solidFill>
          <a:ln>
            <a:solidFill>
              <a:srgbClr val="2B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40680" y="5349240"/>
            <a:ext cx="41148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100" b="1">
                <a:solidFill>
                  <a:srgbClr val="2B3036"/>
                </a:solidFill>
                <a:latin typeface="Aptos"/>
              </a:rPr>
              <a:t>74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2999232"/>
            <a:ext cx="5212080" cy="804672"/>
          </a:xfrm>
          <a:prstGeom prst="roundRect">
            <a:avLst/>
          </a:prstGeom>
          <a:solidFill>
            <a:srgbClr val="F5F6F8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565392" y="3145536"/>
            <a:ext cx="658368" cy="502920"/>
          </a:xfrm>
          <a:prstGeom prst="roundRect">
            <a:avLst/>
          </a:prstGeom>
          <a:solidFill>
            <a:srgbClr val="A61F2B"/>
          </a:solidFill>
          <a:ln>
            <a:solidFill>
              <a:srgbClr val="A6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65392" y="3145536"/>
            <a:ext cx="658368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42631" y="3072384"/>
            <a:ext cx="406908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B3036"/>
                </a:solidFill>
                <a:latin typeface="Aptos"/>
              </a:rPr>
              <a:t>Desktop applications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42631" y="3328415"/>
            <a:ext cx="406908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B646E"/>
                </a:solidFill>
                <a:latin typeface="Aptos"/>
              </a:rPr>
              <a:t>Installed on laptops through the Global Product Catalog.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3959352"/>
            <a:ext cx="5212080" cy="804672"/>
          </a:xfrm>
          <a:prstGeom prst="roundRect">
            <a:avLst/>
          </a:prstGeom>
          <a:solidFill>
            <a:srgbClr val="F5F6F8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565392" y="4105656"/>
            <a:ext cx="658368" cy="502920"/>
          </a:xfrm>
          <a:prstGeom prst="roundRect">
            <a:avLst/>
          </a:prstGeom>
          <a:solidFill>
            <a:srgbClr val="A61F2B"/>
          </a:solidFill>
          <a:ln>
            <a:solidFill>
              <a:srgbClr val="A6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65392" y="4105656"/>
            <a:ext cx="658368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SDA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42631" y="4032504"/>
            <a:ext cx="406908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B3036"/>
                </a:solidFill>
                <a:latin typeface="Aptos"/>
              </a:rPr>
              <a:t>Supporting Digital Assets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42631" y="4288536"/>
            <a:ext cx="406908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B646E"/>
                </a:solidFill>
                <a:latin typeface="Aptos"/>
              </a:rPr>
              <a:t>Examples include Banking Portals, recorded in LeanIX as SDAs.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0" y="4919472"/>
            <a:ext cx="5212080" cy="804672"/>
          </a:xfrm>
          <a:prstGeom prst="roundRect">
            <a:avLst/>
          </a:prstGeom>
          <a:solidFill>
            <a:srgbClr val="F5F6F8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565392" y="5065776"/>
            <a:ext cx="658368" cy="502920"/>
          </a:xfrm>
          <a:prstGeom prst="roundRect">
            <a:avLst/>
          </a:prstGeom>
          <a:solidFill>
            <a:srgbClr val="A61F2B"/>
          </a:solidFill>
          <a:ln>
            <a:solidFill>
              <a:srgbClr val="A6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65392" y="5065776"/>
            <a:ext cx="658368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42631" y="4992624"/>
            <a:ext cx="406908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B3036"/>
                </a:solidFill>
                <a:latin typeface="Aptos"/>
              </a:rPr>
              <a:t>Business Applications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42631" y="5248656"/>
            <a:ext cx="406908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5B646E"/>
                </a:solidFill>
                <a:latin typeface="Aptos"/>
              </a:rPr>
              <a:t>Applications that support business processes.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920" y="5925312"/>
            <a:ext cx="11201400" cy="566928"/>
          </a:xfrm>
          <a:prstGeom prst="roundRect">
            <a:avLst/>
          </a:prstGeom>
          <a:solidFill>
            <a:srgbClr val="FAEFF0"/>
          </a:solidFill>
          <a:ln>
            <a:solidFill>
              <a:srgbClr val="F2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3232" y="5980176"/>
            <a:ext cx="146304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A61F2B"/>
                </a:solidFill>
                <a:latin typeface="Aptos"/>
              </a:rPr>
              <a:t>KEY TAKEAWAY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84831" y="5980176"/>
            <a:ext cx="9326880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B3036"/>
                </a:solidFill>
                <a:latin typeface="Aptos"/>
              </a:rPr>
              <a:t>Improve inventory accuracy, lifecycle visibility and retirement of redundant applications.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6E"/>
                </a:solidFill>
                <a:latin typeface="Aptos"/>
              </a:rPr>
              <a:t>Note: Lifecycle categories and totals require reconciliation before publication; End of Life count was not clear in the source image.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A61F2B"/>
          </a:solidFill>
          <a:ln>
            <a:solidFill>
              <a:srgbClr val="A61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10312"/>
            <a:ext cx="960120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LIFECYCLE DEFINITIONS &amp; DATA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228600"/>
            <a:ext cx="155448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Aptos"/>
              </a:rPr>
              <a:t>ERGO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53312"/>
            <a:ext cx="5349240" cy="960120"/>
          </a:xfrm>
          <a:prstGeom prst="roundRect">
            <a:avLst/>
          </a:prstGeom>
          <a:solidFill>
            <a:srgbClr val="F5F6F8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088" y="1499616"/>
            <a:ext cx="1261872" cy="329184"/>
          </a:xfrm>
          <a:prstGeom prst="roundRect">
            <a:avLst/>
          </a:prstGeom>
          <a:solidFill>
            <a:srgbClr val="606F80"/>
          </a:solidFill>
          <a:ln>
            <a:solidFill>
              <a:srgbClr val="606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99616"/>
            <a:ext cx="120700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463040"/>
            <a:ext cx="3639312" cy="7132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B3036"/>
                </a:solidFill>
                <a:latin typeface="Aptos"/>
              </a:rPr>
              <a:t>Still in the planning stage; implementation is not yet confirmed.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542032"/>
            <a:ext cx="5349240" cy="960120"/>
          </a:xfrm>
          <a:prstGeom prst="roundRect">
            <a:avLst/>
          </a:prstGeom>
          <a:solidFill>
            <a:srgbClr val="F5F6F8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" y="2688336"/>
            <a:ext cx="1261872" cy="329184"/>
          </a:xfrm>
          <a:prstGeom prst="roundRect">
            <a:avLst/>
          </a:prstGeom>
          <a:solidFill>
            <a:srgbClr val="CB8F1F"/>
          </a:solidFill>
          <a:ln>
            <a:solidFill>
              <a:srgbClr val="CB8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88336"/>
            <a:ext cx="120700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Phase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651760"/>
            <a:ext cx="3639312" cy="7132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B3036"/>
                </a:solidFill>
                <a:latin typeface="Aptos"/>
              </a:rPr>
              <a:t>Being built or acquired; not yet used by business users.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30752"/>
            <a:ext cx="5349240" cy="960120"/>
          </a:xfrm>
          <a:prstGeom prst="roundRect">
            <a:avLst/>
          </a:prstGeom>
          <a:solidFill>
            <a:srgbClr val="F5F6F8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4088" y="3877056"/>
            <a:ext cx="1261872" cy="329184"/>
          </a:xfrm>
          <a:prstGeom prst="roundRect">
            <a:avLst/>
          </a:prstGeom>
          <a:solidFill>
            <a:srgbClr val="278458"/>
          </a:solidFill>
          <a:ln>
            <a:solidFill>
              <a:srgbClr val="278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77056"/>
            <a:ext cx="120700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840480"/>
            <a:ext cx="3639312" cy="7132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B3036"/>
                </a:solidFill>
                <a:latin typeface="Aptos"/>
              </a:rPr>
              <a:t>Productive and actively used by the business.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1353312"/>
            <a:ext cx="5349240" cy="960120"/>
          </a:xfrm>
          <a:prstGeom prst="roundRect">
            <a:avLst/>
          </a:prstGeom>
          <a:solidFill>
            <a:srgbClr val="F5F6F8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19088" y="1499616"/>
            <a:ext cx="1261872" cy="329184"/>
          </a:xfrm>
          <a:prstGeom prst="roundRect">
            <a:avLst/>
          </a:prstGeom>
          <a:solidFill>
            <a:srgbClr val="C2524C"/>
          </a:solidFill>
          <a:ln>
            <a:solidFill>
              <a:srgbClr val="C25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499616"/>
            <a:ext cx="120700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Phase 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1463040"/>
            <a:ext cx="3639312" cy="7132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B3036"/>
                </a:solidFill>
                <a:latin typeface="Aptos"/>
              </a:rPr>
              <a:t>Planned for retirement; may be decommissioned, read-only or archived.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2542032"/>
            <a:ext cx="5349240" cy="960120"/>
          </a:xfrm>
          <a:prstGeom prst="roundRect">
            <a:avLst/>
          </a:prstGeom>
          <a:solidFill>
            <a:srgbClr val="F5F6F8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19088" y="2688336"/>
            <a:ext cx="1261872" cy="329184"/>
          </a:xfrm>
          <a:prstGeom prst="roundRect">
            <a:avLst/>
          </a:prstGeom>
          <a:solidFill>
            <a:srgbClr val="606F80"/>
          </a:solidFill>
          <a:ln>
            <a:solidFill>
              <a:srgbClr val="606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688336"/>
            <a:ext cx="120700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651760"/>
            <a:ext cx="3639312" cy="7132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B3036"/>
                </a:solidFill>
                <a:latin typeface="Aptos"/>
              </a:rPr>
              <a:t>No longer actively used, but retained for a defined need such as compliance.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81928" y="3730752"/>
            <a:ext cx="5349240" cy="960120"/>
          </a:xfrm>
          <a:prstGeom prst="roundRect">
            <a:avLst/>
          </a:prstGeom>
          <a:solidFill>
            <a:srgbClr val="F5F6F8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19088" y="3877056"/>
            <a:ext cx="1261872" cy="329184"/>
          </a:xfrm>
          <a:prstGeom prst="roundRect">
            <a:avLst/>
          </a:prstGeom>
          <a:solidFill>
            <a:srgbClr val="5B646E"/>
          </a:solidFill>
          <a:ln>
            <a:solidFill>
              <a:srgbClr val="5B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877056"/>
            <a:ext cx="120700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End of Life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3840480"/>
            <a:ext cx="3639312" cy="7132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B3036"/>
                </a:solidFill>
                <a:latin typeface="Aptos"/>
              </a:rPr>
              <a:t>Reached end of life and no longer used; confirm whether any infrastructure remains.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166360"/>
            <a:ext cx="11064240" cy="1024128"/>
          </a:xfrm>
          <a:prstGeom prst="roundRect">
            <a:avLst/>
          </a:prstGeom>
          <a:solidFill>
            <a:srgbClr val="FAEFF0"/>
          </a:solidFill>
          <a:ln>
            <a:solidFill>
              <a:srgbClr val="F2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276088"/>
            <a:ext cx="182880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A61F2B"/>
                </a:solidFill>
                <a:latin typeface="Aptos"/>
              </a:rPr>
              <a:t>VALIDATE BEFORE SHARING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559552"/>
            <a:ext cx="1060704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2B3036"/>
                </a:solidFill>
                <a:latin typeface="Aptos"/>
              </a:rPr>
              <a:t>• Confirm whether the 74 desktop / bundle apps are included in the 115 total or reported separately.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751576"/>
            <a:ext cx="1060704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2B3036"/>
                </a:solidFill>
                <a:latin typeface="Aptos"/>
              </a:rPr>
              <a:t>• Reconcile lifecycle counts to the inventory; the visible categories do not clearly total 115.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943600"/>
            <a:ext cx="1060704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2B3036"/>
                </a:solidFill>
                <a:latin typeface="Aptos"/>
              </a:rPr>
              <a:t>• Confirm the End of Life count and whether the 5 decommissioned apps are a subset of the 41 LeanIX apps.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510528"/>
            <a:ext cx="109728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46E"/>
                </a:solidFill>
                <a:latin typeface="Aptos"/>
              </a:rPr>
              <a:t>Prepared from the supplied screenshot. Counts are reproduced as visible and flagged where unclear.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