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Applications</c:v>
                </c:pt>
              </c:strCache>
            </c:strRef>
          </c:tx>
          <c:dPt>
            <c:idx val="0"/>
            <c:spPr>
              <a:solidFill>
                <a:srgbClr val="A61F2B"/>
              </a:solidFill>
              <a:ln>
                <a:noFill/>
              </a:ln>
            </c:spPr>
          </c:dPt>
          <c:dPt>
            <c:idx val="1"/>
            <c:spPr>
              <a:solidFill>
                <a:srgbClr val="606F80"/>
              </a:solidFill>
              <a:ln>
                <a:noFill/>
              </a:ln>
            </c:spPr>
          </c:dPt>
          <c:dPt>
            <c:idx val="2"/>
            <c:spPr>
              <a:solidFill>
                <a:srgbClr val="606F80"/>
              </a:solidFill>
              <a:ln>
                <a:noFill/>
              </a:ln>
            </c:spPr>
          </c:dPt>
          <c:dPt>
            <c:idx val="3"/>
            <c:spPr>
              <a:solidFill>
                <a:srgbClr val="606F80"/>
              </a:solidFill>
              <a:ln>
                <a:noFill/>
              </a:ln>
            </c:spPr>
          </c:dPt>
          <c:dPt>
            <c:idx val="4"/>
            <c:spPr>
              <a:solidFill>
                <a:srgbClr val="606F80"/>
              </a:solidFill>
              <a:ln>
                <a:noFill/>
              </a:ln>
            </c:spPr>
          </c:dPt>
          <c:dPt>
            <c:idx val="5"/>
            <c:spPr>
              <a:solidFill>
                <a:srgbClr val="606F80"/>
              </a:solidFill>
              <a:ln>
                <a:noFill/>
              </a:ln>
            </c:spPr>
          </c:dPt>
          <c:dPt>
            <c:idx val="6"/>
            <c:spPr>
              <a:solidFill>
                <a:srgbClr val="606F80"/>
              </a:solidFill>
              <a:ln>
                <a:noFill/>
              </a:ln>
            </c:spPr>
          </c:dPt>
          <c:dPt>
            <c:idx val="7"/>
            <c:spPr>
              <a:solidFill>
                <a:srgbClr val="606F80"/>
              </a:solidFill>
              <a:ln>
                <a:noFill/>
              </a:ln>
            </c:spPr>
          </c:dPt>
          <c:cat>
            <c:strRef>
              <c:f>Sheet1!$A$2:$A$9</c:f>
              <c:strCache>
                <c:ptCount val="8"/>
                <c:pt idx="0">
                  <c:v>Other Applications</c:v>
                </c:pt>
                <c:pt idx="1">
                  <c:v>ERGO2GO (Germany)</c:v>
                </c:pt>
                <c:pt idx="2">
                  <c:v>MunichRe (Nordics)</c:v>
                </c:pt>
                <c:pt idx="3">
                  <c:v>MunichRE-HVD</c:v>
                </c:pt>
                <c:pt idx="4">
                  <c:v>Horizon VDI (Hestia)</c:v>
                </c:pt>
                <c:pt idx="5">
                  <c:v>ETS India Laptop</c:v>
                </c:pt>
                <c:pt idx="6">
                  <c:v>Microsoft Windows App (DKV Belgium)</c:v>
                </c:pt>
                <c:pt idx="7">
                  <c:v>Local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430</c:v>
                </c:pt>
                <c:pt idx="1">
                  <c:v>287</c:v>
                </c:pt>
                <c:pt idx="2">
                  <c:v>59</c:v>
                </c:pt>
                <c:pt idx="3">
                  <c:v>17</c:v>
                </c:pt>
                <c:pt idx="4">
                  <c:v>25</c:v>
                </c:pt>
                <c:pt idx="5">
                  <c:v>21</c:v>
                </c:pt>
                <c:pt idx="6">
                  <c:v>13</c:v>
                </c:pt>
                <c:pt idx="7">
                  <c:v>6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 b="1">
                  <a:latin typeface="Apto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00.0"/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ptos"/>
              </a:defRPr>
            </a:pPr>
          </a:p>
        </c:txPr>
        <c:crossAx val="-2068027336"/>
        <c:crosses val="autoZero"/>
        <c:majorUnit val="10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A61F2B"/>
          </a:solidFill>
          <a:ln>
            <a:solidFill>
              <a:srgbClr val="A61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8869680" cy="43891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APPLICATION ACCESS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12648"/>
            <a:ext cx="8961120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"/>
              </a:rPr>
              <a:t>Total apps discovered in ET&amp;S India • 23 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219456"/>
            <a:ext cx="1508760" cy="42062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/>
            <a:r>
              <a:rPr sz="2500" b="1">
                <a:solidFill>
                  <a:srgbClr val="FFFFFF"/>
                </a:solidFill>
                <a:latin typeface="Aptos"/>
              </a:rPr>
              <a:t>ERGO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21240" y="658368"/>
            <a:ext cx="1645920" cy="1828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Aptos"/>
              </a:rPr>
              <a:t>Technology &amp;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43584"/>
            <a:ext cx="7498079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A61F2B"/>
                </a:solidFill>
                <a:latin typeface="Aptos"/>
              </a:rPr>
              <a:t>APPLICATIONS BY ACCESS METHOD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02920" y="1600200"/>
          <a:ext cx="7818120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595360" y="1719072"/>
            <a:ext cx="3017520" cy="1188720"/>
          </a:xfrm>
          <a:prstGeom prst="roundRect">
            <a:avLst/>
          </a:prstGeom>
          <a:solidFill>
            <a:srgbClr val="F5F6F8"/>
          </a:solidFill>
          <a:ln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23960" y="1828800"/>
            <a:ext cx="2560320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5F656C"/>
                </a:solidFill>
                <a:latin typeface="Aptos"/>
              </a:rPr>
              <a:t>TOTAL DISCOVERED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23960" y="2112264"/>
            <a:ext cx="2560320" cy="54864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3200" b="1">
                <a:solidFill>
                  <a:srgbClr val="A61F2B"/>
                </a:solidFill>
                <a:latin typeface="Aptos"/>
              </a:rPr>
              <a:t>858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3960" y="2596896"/>
            <a:ext cx="2560320" cy="20116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23272B"/>
                </a:solidFill>
                <a:latin typeface="Aptos"/>
              </a:rPr>
              <a:t>across 8 access methods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0" y="3127248"/>
            <a:ext cx="3017520" cy="1353312"/>
          </a:xfrm>
          <a:prstGeom prst="roundRect">
            <a:avLst/>
          </a:prstGeom>
          <a:solidFill>
            <a:srgbClr val="FAEFF0"/>
          </a:solidFill>
          <a:ln>
            <a:solidFill>
              <a:srgbClr val="F2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23960" y="3246120"/>
            <a:ext cx="2560320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A61F2B"/>
                </a:solidFill>
                <a:latin typeface="Aptos"/>
              </a:rPr>
              <a:t>LARGEST GROUP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23960" y="3520440"/>
            <a:ext cx="2560320" cy="38404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23272B"/>
                </a:solidFill>
                <a:latin typeface="Aptos"/>
              </a:rPr>
              <a:t>Other Applications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3960" y="3904487"/>
            <a:ext cx="2560320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23272B"/>
                </a:solidFill>
                <a:latin typeface="Aptos"/>
              </a:rPr>
              <a:t>430 apps • 50.1% of total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95360" y="4709160"/>
            <a:ext cx="3017520" cy="1188720"/>
          </a:xfrm>
          <a:prstGeom prst="roundRect">
            <a:avLst/>
          </a:prstGeom>
          <a:solidFill>
            <a:srgbClr val="F5F6F8"/>
          </a:solidFill>
          <a:ln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60" y="4828032"/>
            <a:ext cx="2560320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5F656C"/>
                </a:solidFill>
                <a:latin typeface="Aptos"/>
              </a:rPr>
              <a:t>NEXT LARGEST GROUP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5102352"/>
            <a:ext cx="2560320" cy="32918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23272B"/>
                </a:solidFill>
                <a:latin typeface="Aptos"/>
              </a:rPr>
              <a:t>ERGO2GO (Germany)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23960" y="5440680"/>
            <a:ext cx="2560320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23272B"/>
                </a:solidFill>
                <a:latin typeface="Aptos"/>
              </a:rPr>
              <a:t>287 apps • 33.4% of total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6419088"/>
            <a:ext cx="10972800" cy="1828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5F656C"/>
                </a:solidFill>
                <a:latin typeface="Aptos"/>
              </a:rPr>
              <a:t>Counts reproduced from the supplied table. Chart is a native editable PowerPoint chart.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A61F2B"/>
          </a:solidFill>
          <a:ln>
            <a:solidFill>
              <a:srgbClr val="A61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8869680" cy="43891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APPLICATION ACCESS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12648"/>
            <a:ext cx="8961120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"/>
              </a:rPr>
              <a:t>Editable source values for the bar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219456"/>
            <a:ext cx="1508760" cy="42062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/>
            <a:r>
              <a:rPr sz="2500" b="1">
                <a:solidFill>
                  <a:srgbClr val="FFFFFF"/>
                </a:solidFill>
                <a:latin typeface="Aptos"/>
              </a:rPr>
              <a:t>ERGO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21240" y="658368"/>
            <a:ext cx="1645920" cy="1828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Aptos"/>
              </a:rPr>
              <a:t>Technology &amp; Services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371600"/>
          <a:ext cx="10698480" cy="4855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95360"/>
                <a:gridCol w="2103120"/>
              </a:tblGrid>
              <a:tr h="53949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Access method</a:t>
                      </a:r>
                    </a:p>
                  </a:txBody>
                  <a:tcPr anchor="ctr" marL="137160" marR="137160">
                    <a:solidFill>
                      <a:srgbClr val="A61F2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Count</a:t>
                      </a:r>
                    </a:p>
                  </a:txBody>
                  <a:tcPr anchor="ctr" marL="137160" marR="137160">
                    <a:solidFill>
                      <a:srgbClr val="A61F2B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3272B"/>
                          </a:solidFill>
                          <a:latin typeface="Aptos"/>
                        </a:rPr>
                        <a:t>Applications Access Via MunichRe (Nordics)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3272B"/>
                          </a:solidFill>
                          <a:latin typeface="Aptos"/>
                        </a:rPr>
                        <a:t>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3272B"/>
                          </a:solidFill>
                          <a:latin typeface="Aptos"/>
                        </a:rPr>
                        <a:t>Applications Access via Horizon VDI (Hestia)</a:t>
                      </a:r>
                    </a:p>
                  </a:txBody>
                  <a:tcPr anchor="ctr" marL="137160" marR="13716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3272B"/>
                          </a:solidFill>
                          <a:latin typeface="Aptos"/>
                        </a:rPr>
                        <a:t>25</a:t>
                      </a:r>
                    </a:p>
                  </a:txBody>
                  <a:tcPr anchor="ctr" marL="137160" marR="137160">
                    <a:solidFill>
                      <a:srgbClr val="F5F6F8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3272B"/>
                          </a:solidFill>
                          <a:latin typeface="Aptos"/>
                        </a:rPr>
                        <a:t>Applications Access via ETS India Laptop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3272B"/>
                          </a:solidFill>
                          <a:latin typeface="Aptos"/>
                        </a:rPr>
                        <a:t>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3272B"/>
                          </a:solidFill>
                          <a:latin typeface="Aptos"/>
                        </a:rPr>
                        <a:t>Applications Access via Local</a:t>
                      </a:r>
                    </a:p>
                  </a:txBody>
                  <a:tcPr anchor="ctr" marL="137160" marR="13716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3272B"/>
                          </a:solidFill>
                          <a:latin typeface="Aptos"/>
                        </a:rPr>
                        <a:t>6</a:t>
                      </a:r>
                    </a:p>
                  </a:txBody>
                  <a:tcPr anchor="ctr" marL="137160" marR="137160">
                    <a:solidFill>
                      <a:srgbClr val="F5F6F8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3272B"/>
                          </a:solidFill>
                          <a:latin typeface="Aptos"/>
                        </a:rPr>
                        <a:t>Applications Access via Microsoft Windows App (DKV Belgium)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3272B"/>
                          </a:solidFill>
                          <a:latin typeface="Aptos"/>
                        </a:rPr>
                        <a:t>13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3272B"/>
                          </a:solidFill>
                          <a:latin typeface="Aptos"/>
                        </a:rPr>
                        <a:t>Applications Access via ERGO2GO (Germany)</a:t>
                      </a:r>
                    </a:p>
                  </a:txBody>
                  <a:tcPr anchor="ctr" marL="137160" marR="13716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3272B"/>
                          </a:solidFill>
                          <a:latin typeface="Aptos"/>
                        </a:rPr>
                        <a:t>287</a:t>
                      </a:r>
                    </a:p>
                  </a:txBody>
                  <a:tcPr anchor="ctr" marL="137160" marR="137160">
                    <a:solidFill>
                      <a:srgbClr val="F5F6F8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3272B"/>
                          </a:solidFill>
                          <a:latin typeface="Aptos"/>
                        </a:rPr>
                        <a:t>Applications Access via MunichRE-HVD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3272B"/>
                          </a:solidFill>
                          <a:latin typeface="Aptos"/>
                        </a:rPr>
                        <a:t>17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3272B"/>
                          </a:solidFill>
                          <a:latin typeface="Aptos"/>
                        </a:rPr>
                        <a:t>Other Applications</a:t>
                      </a:r>
                    </a:p>
                  </a:txBody>
                  <a:tcPr anchor="ctr" marL="137160" marR="13716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3272B"/>
                          </a:solidFill>
                          <a:latin typeface="Aptos"/>
                        </a:rPr>
                        <a:t>430</a:t>
                      </a:r>
                    </a:p>
                  </a:txBody>
                  <a:tcPr anchor="ctr" marL="137160" marR="137160">
                    <a:solidFill>
                      <a:srgbClr val="F5F6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6382512"/>
            <a:ext cx="10698480" cy="20116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5F656C"/>
                </a:solidFill>
                <a:latin typeface="Aptos"/>
              </a:rPr>
              <a:t>Total across the eight displayed access groups: 858 applications.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