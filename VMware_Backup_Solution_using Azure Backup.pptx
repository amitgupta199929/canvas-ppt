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Inter Heavy" panose="020B0604020202020204" charset="0"/>
      <p:regular r:id="rId7"/>
    </p:embeddedFont>
    <p:embeddedFont>
      <p:font typeface="Montserrat" panose="00000500000000000000" pitchFamily="2" charset="0"/>
      <p:regular r:id="rId8"/>
      <p:bold r:id="rId9"/>
      <p:italic r:id="rId10"/>
      <p:boldItalic r:id="rId11"/>
    </p:embeddedFont>
    <p:embeddedFont>
      <p:font typeface="Montserrat Ultra-Bold" panose="020B0604020202020204" charset="0"/>
      <p:regular r:id="rId12"/>
    </p:embeddedFont>
    <p:embeddedFont>
      <p:font typeface="Poppins" panose="020B0502040204020203" pitchFamily="2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31982" y="-190239"/>
            <a:ext cx="3015641" cy="5228051"/>
            <a:chOff x="0" y="0"/>
            <a:chExt cx="794243" cy="13769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94243" cy="1376935"/>
            </a:xfrm>
            <a:custGeom>
              <a:avLst/>
              <a:gdLst/>
              <a:ahLst/>
              <a:cxnLst/>
              <a:rect l="l" t="t" r="r" b="b"/>
              <a:pathLst>
                <a:path w="794243" h="1376935">
                  <a:moveTo>
                    <a:pt x="0" y="0"/>
                  </a:moveTo>
                  <a:lnTo>
                    <a:pt x="794243" y="0"/>
                  </a:lnTo>
                  <a:lnTo>
                    <a:pt x="794243" y="1376935"/>
                  </a:lnTo>
                  <a:lnTo>
                    <a:pt x="0" y="1376935"/>
                  </a:lnTo>
                  <a:close/>
                </a:path>
              </a:pathLst>
            </a:custGeom>
            <a:solidFill>
              <a:srgbClr val="F7F5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794243" cy="14150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148464" y="6418806"/>
            <a:ext cx="3015641" cy="5228051"/>
            <a:chOff x="0" y="0"/>
            <a:chExt cx="794243" cy="137693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94243" cy="1376935"/>
            </a:xfrm>
            <a:custGeom>
              <a:avLst/>
              <a:gdLst/>
              <a:ahLst/>
              <a:cxnLst/>
              <a:rect l="l" t="t" r="r" b="b"/>
              <a:pathLst>
                <a:path w="794243" h="1376935">
                  <a:moveTo>
                    <a:pt x="0" y="0"/>
                  </a:moveTo>
                  <a:lnTo>
                    <a:pt x="794243" y="0"/>
                  </a:lnTo>
                  <a:lnTo>
                    <a:pt x="794243" y="1376935"/>
                  </a:lnTo>
                  <a:lnTo>
                    <a:pt x="0" y="1376935"/>
                  </a:lnTo>
                  <a:close/>
                </a:path>
              </a:pathLst>
            </a:custGeom>
            <a:solidFill>
              <a:srgbClr val="F7F5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794243" cy="14150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909724" y="2253168"/>
            <a:ext cx="6361116" cy="5780664"/>
          </a:xfrm>
          <a:custGeom>
            <a:avLst/>
            <a:gdLst/>
            <a:ahLst/>
            <a:cxnLst/>
            <a:rect l="l" t="t" r="r" b="b"/>
            <a:pathLst>
              <a:path w="6361116" h="5780664">
                <a:moveTo>
                  <a:pt x="0" y="0"/>
                </a:moveTo>
                <a:lnTo>
                  <a:pt x="6361116" y="0"/>
                </a:lnTo>
                <a:lnTo>
                  <a:pt x="6361116" y="5780664"/>
                </a:lnTo>
                <a:lnTo>
                  <a:pt x="0" y="57806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-226107" y="-2994503"/>
            <a:ext cx="4916178" cy="4916178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C33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706016" y="9188768"/>
            <a:ext cx="4916178" cy="4916178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C33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781725" y="6630183"/>
            <a:ext cx="6863778" cy="746864"/>
            <a:chOff x="0" y="0"/>
            <a:chExt cx="1807744" cy="19670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807744" cy="196705"/>
            </a:xfrm>
            <a:custGeom>
              <a:avLst/>
              <a:gdLst/>
              <a:ahLst/>
              <a:cxnLst/>
              <a:rect l="l" t="t" r="r" b="b"/>
              <a:pathLst>
                <a:path w="1807744" h="196705">
                  <a:moveTo>
                    <a:pt x="98353" y="0"/>
                  </a:moveTo>
                  <a:lnTo>
                    <a:pt x="1709392" y="0"/>
                  </a:lnTo>
                  <a:cubicBezTo>
                    <a:pt x="1763710" y="0"/>
                    <a:pt x="1807744" y="44034"/>
                    <a:pt x="1807744" y="98353"/>
                  </a:cubicBezTo>
                  <a:lnTo>
                    <a:pt x="1807744" y="98353"/>
                  </a:lnTo>
                  <a:cubicBezTo>
                    <a:pt x="1807744" y="124437"/>
                    <a:pt x="1797382" y="149454"/>
                    <a:pt x="1778937" y="167898"/>
                  </a:cubicBezTo>
                  <a:cubicBezTo>
                    <a:pt x="1760493" y="186343"/>
                    <a:pt x="1735476" y="196705"/>
                    <a:pt x="1709392" y="196705"/>
                  </a:cubicBezTo>
                  <a:lnTo>
                    <a:pt x="98353" y="196705"/>
                  </a:lnTo>
                  <a:cubicBezTo>
                    <a:pt x="72268" y="196705"/>
                    <a:pt x="47251" y="186343"/>
                    <a:pt x="28807" y="167898"/>
                  </a:cubicBezTo>
                  <a:cubicBezTo>
                    <a:pt x="10362" y="149454"/>
                    <a:pt x="0" y="124437"/>
                    <a:pt x="0" y="98353"/>
                  </a:cubicBezTo>
                  <a:lnTo>
                    <a:pt x="0" y="98353"/>
                  </a:lnTo>
                  <a:cubicBezTo>
                    <a:pt x="0" y="72268"/>
                    <a:pt x="10362" y="47251"/>
                    <a:pt x="28807" y="28807"/>
                  </a:cubicBezTo>
                  <a:cubicBezTo>
                    <a:pt x="47251" y="10362"/>
                    <a:pt x="72268" y="0"/>
                    <a:pt x="98353" y="0"/>
                  </a:cubicBezTo>
                  <a:close/>
                </a:path>
              </a:pathLst>
            </a:custGeom>
            <a:solidFill>
              <a:srgbClr val="FFCC33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807744" cy="234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14969221" y="1028700"/>
            <a:ext cx="2290079" cy="1173666"/>
          </a:xfrm>
          <a:custGeom>
            <a:avLst/>
            <a:gdLst/>
            <a:ahLst/>
            <a:cxnLst/>
            <a:rect l="l" t="t" r="r" b="b"/>
            <a:pathLst>
              <a:path w="2290079" h="1173666">
                <a:moveTo>
                  <a:pt x="0" y="0"/>
                </a:moveTo>
                <a:lnTo>
                  <a:pt x="2290079" y="0"/>
                </a:lnTo>
                <a:lnTo>
                  <a:pt x="2290079" y="1173666"/>
                </a:lnTo>
                <a:lnTo>
                  <a:pt x="0" y="11736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9" name="Freeform 19"/>
          <p:cNvSpPr/>
          <p:nvPr/>
        </p:nvSpPr>
        <p:spPr>
          <a:xfrm>
            <a:off x="774255" y="7849122"/>
            <a:ext cx="508889" cy="1507820"/>
          </a:xfrm>
          <a:custGeom>
            <a:avLst/>
            <a:gdLst/>
            <a:ahLst/>
            <a:cxnLst/>
            <a:rect l="l" t="t" r="r" b="b"/>
            <a:pathLst>
              <a:path w="508889" h="1507820">
                <a:moveTo>
                  <a:pt x="0" y="0"/>
                </a:moveTo>
                <a:lnTo>
                  <a:pt x="508890" y="0"/>
                </a:lnTo>
                <a:lnTo>
                  <a:pt x="508890" y="1507820"/>
                </a:lnTo>
                <a:lnTo>
                  <a:pt x="0" y="15078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0" name="Freeform 20"/>
          <p:cNvSpPr/>
          <p:nvPr/>
        </p:nvSpPr>
        <p:spPr>
          <a:xfrm>
            <a:off x="15497330" y="8741668"/>
            <a:ext cx="1761970" cy="447100"/>
          </a:xfrm>
          <a:custGeom>
            <a:avLst/>
            <a:gdLst/>
            <a:ahLst/>
            <a:cxnLst/>
            <a:rect l="l" t="t" r="r" b="b"/>
            <a:pathLst>
              <a:path w="1761970" h="447100">
                <a:moveTo>
                  <a:pt x="0" y="0"/>
                </a:moveTo>
                <a:lnTo>
                  <a:pt x="1761970" y="0"/>
                </a:lnTo>
                <a:lnTo>
                  <a:pt x="1761970" y="447100"/>
                </a:lnTo>
                <a:lnTo>
                  <a:pt x="0" y="4471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1" name="TextBox 21"/>
          <p:cNvSpPr txBox="1"/>
          <p:nvPr/>
        </p:nvSpPr>
        <p:spPr>
          <a:xfrm>
            <a:off x="8781725" y="2576186"/>
            <a:ext cx="9019600" cy="5099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8000" b="1">
                <a:solidFill>
                  <a:srgbClr val="6644A8"/>
                </a:solidFill>
                <a:latin typeface="Inter Heavy"/>
                <a:ea typeface="Inter Heavy"/>
                <a:cs typeface="Inter Heavy"/>
                <a:sym typeface="Inter Heavy"/>
              </a:rPr>
              <a:t>VMWARE BACKUP SOLUTION USING AZURE BACKUP </a:t>
            </a:r>
          </a:p>
          <a:p>
            <a:pPr algn="l">
              <a:lnSpc>
                <a:spcPts val="8000"/>
              </a:lnSpc>
            </a:pPr>
            <a:endParaRPr lang="en-US" sz="8000" b="1">
              <a:solidFill>
                <a:srgbClr val="6644A8"/>
              </a:solidFill>
              <a:latin typeface="Inter Heavy"/>
              <a:ea typeface="Inter Heavy"/>
              <a:cs typeface="Inter Heavy"/>
              <a:sym typeface="Inter Heavy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9260100" y="6749665"/>
            <a:ext cx="5907028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Presented By : Amit Gupta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36775" y="266372"/>
            <a:ext cx="17814449" cy="10020628"/>
          </a:xfrm>
          <a:custGeom>
            <a:avLst/>
            <a:gdLst/>
            <a:ahLst/>
            <a:cxnLst/>
            <a:rect l="l" t="t" r="r" b="b"/>
            <a:pathLst>
              <a:path w="17814449" h="10020628">
                <a:moveTo>
                  <a:pt x="0" y="0"/>
                </a:moveTo>
                <a:lnTo>
                  <a:pt x="17814450" y="0"/>
                </a:lnTo>
                <a:lnTo>
                  <a:pt x="17814450" y="10020628"/>
                </a:lnTo>
                <a:lnTo>
                  <a:pt x="0" y="100206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162692" y="3602207"/>
            <a:ext cx="3841146" cy="384114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ln w="57150" cap="rnd">
              <a:solidFill>
                <a:srgbClr val="8D9193"/>
              </a:solidFill>
              <a:prstDash val="sysDot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5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012115" y="3534660"/>
            <a:ext cx="1622297" cy="1622297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366E4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71438" tIns="71438" rIns="71438" bIns="71438" rtlCol="0" anchor="ctr"/>
            <a:lstStyle/>
            <a:p>
              <a:pPr algn="ctr">
                <a:lnSpc>
                  <a:spcPts val="2756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653588" y="3534660"/>
            <a:ext cx="1622297" cy="162229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DA707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71438" tIns="71438" rIns="71438" bIns="71438" rtlCol="0" anchor="ctr"/>
            <a:lstStyle/>
            <a:p>
              <a:pPr algn="ctr">
                <a:lnSpc>
                  <a:spcPts val="2756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653587" y="5948521"/>
            <a:ext cx="1622297" cy="1622297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AEB6"/>
            </a:soli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71438" tIns="71438" rIns="71438" bIns="71438" rtlCol="0" anchor="ctr"/>
            <a:lstStyle/>
            <a:p>
              <a:pPr algn="ctr">
                <a:lnSpc>
                  <a:spcPts val="2756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012115" y="5948521"/>
            <a:ext cx="1622297" cy="1622297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46671"/>
            </a:solidFill>
            <a:ln cap="sq">
              <a:noFill/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71438" tIns="71438" rIns="71438" bIns="71438" rtlCol="0" anchor="ctr"/>
            <a:lstStyle/>
            <a:p>
              <a:pPr algn="ctr">
                <a:lnSpc>
                  <a:spcPts val="2756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 rot="5471797">
            <a:off x="8905875" y="3442958"/>
            <a:ext cx="476250" cy="416719"/>
            <a:chOff x="0" y="0"/>
            <a:chExt cx="812800" cy="711200"/>
          </a:xfrm>
        </p:grpSpPr>
        <p:sp>
          <p:nvSpPr>
            <p:cNvPr id="18" name="Freeform 18"/>
            <p:cNvSpPr/>
            <p:nvPr/>
          </p:nvSpPr>
          <p:spPr>
            <a:xfrm>
              <a:off x="68223" y="94337"/>
              <a:ext cx="676354" cy="616863"/>
            </a:xfrm>
            <a:custGeom>
              <a:avLst/>
              <a:gdLst/>
              <a:ahLst/>
              <a:cxnLst/>
              <a:rect l="l" t="t" r="r" b="b"/>
              <a:pathLst>
                <a:path w="676354" h="616863">
                  <a:moveTo>
                    <a:pt x="418829" y="46805"/>
                  </a:moveTo>
                  <a:lnTo>
                    <a:pt x="663925" y="475721"/>
                  </a:lnTo>
                  <a:cubicBezTo>
                    <a:pt x="680609" y="504919"/>
                    <a:pt x="680489" y="540791"/>
                    <a:pt x="663610" y="569876"/>
                  </a:cubicBezTo>
                  <a:cubicBezTo>
                    <a:pt x="646731" y="598962"/>
                    <a:pt x="615645" y="616863"/>
                    <a:pt x="582017" y="616863"/>
                  </a:cubicBezTo>
                  <a:lnTo>
                    <a:pt x="94337" y="616863"/>
                  </a:lnTo>
                  <a:cubicBezTo>
                    <a:pt x="60709" y="616863"/>
                    <a:pt x="29623" y="598962"/>
                    <a:pt x="12744" y="569876"/>
                  </a:cubicBezTo>
                  <a:cubicBezTo>
                    <a:pt x="-4135" y="540791"/>
                    <a:pt x="-4255" y="504919"/>
                    <a:pt x="12429" y="475721"/>
                  </a:cubicBezTo>
                  <a:lnTo>
                    <a:pt x="257525" y="46805"/>
                  </a:lnTo>
                  <a:cubicBezTo>
                    <a:pt x="274063" y="17862"/>
                    <a:pt x="304842" y="0"/>
                    <a:pt x="338177" y="0"/>
                  </a:cubicBezTo>
                  <a:cubicBezTo>
                    <a:pt x="371512" y="0"/>
                    <a:pt x="402291" y="17862"/>
                    <a:pt x="418829" y="46805"/>
                  </a:cubicBezTo>
                  <a:close/>
                </a:path>
              </a:pathLst>
            </a:custGeom>
            <a:solidFill>
              <a:srgbClr val="9366E4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6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 rot="-10800000">
            <a:off x="10765713" y="5344380"/>
            <a:ext cx="476250" cy="416719"/>
            <a:chOff x="0" y="0"/>
            <a:chExt cx="812800" cy="711200"/>
          </a:xfrm>
        </p:grpSpPr>
        <p:sp>
          <p:nvSpPr>
            <p:cNvPr id="21" name="Freeform 21"/>
            <p:cNvSpPr/>
            <p:nvPr/>
          </p:nvSpPr>
          <p:spPr>
            <a:xfrm>
              <a:off x="68223" y="94337"/>
              <a:ext cx="676354" cy="616863"/>
            </a:xfrm>
            <a:custGeom>
              <a:avLst/>
              <a:gdLst/>
              <a:ahLst/>
              <a:cxnLst/>
              <a:rect l="l" t="t" r="r" b="b"/>
              <a:pathLst>
                <a:path w="676354" h="616863">
                  <a:moveTo>
                    <a:pt x="418829" y="46805"/>
                  </a:moveTo>
                  <a:lnTo>
                    <a:pt x="663925" y="475721"/>
                  </a:lnTo>
                  <a:cubicBezTo>
                    <a:pt x="680609" y="504919"/>
                    <a:pt x="680489" y="540791"/>
                    <a:pt x="663610" y="569876"/>
                  </a:cubicBezTo>
                  <a:cubicBezTo>
                    <a:pt x="646731" y="598962"/>
                    <a:pt x="615645" y="616863"/>
                    <a:pt x="582017" y="616863"/>
                  </a:cubicBezTo>
                  <a:lnTo>
                    <a:pt x="94337" y="616863"/>
                  </a:lnTo>
                  <a:cubicBezTo>
                    <a:pt x="60709" y="616863"/>
                    <a:pt x="29623" y="598962"/>
                    <a:pt x="12744" y="569876"/>
                  </a:cubicBezTo>
                  <a:cubicBezTo>
                    <a:pt x="-4135" y="540791"/>
                    <a:pt x="-4255" y="504919"/>
                    <a:pt x="12429" y="475721"/>
                  </a:cubicBezTo>
                  <a:lnTo>
                    <a:pt x="257525" y="46805"/>
                  </a:lnTo>
                  <a:cubicBezTo>
                    <a:pt x="274063" y="17862"/>
                    <a:pt x="304842" y="0"/>
                    <a:pt x="338177" y="0"/>
                  </a:cubicBezTo>
                  <a:cubicBezTo>
                    <a:pt x="371512" y="0"/>
                    <a:pt x="402291" y="17862"/>
                    <a:pt x="418829" y="46805"/>
                  </a:cubicBezTo>
                  <a:close/>
                </a:path>
              </a:pathLst>
            </a:custGeom>
            <a:solidFill>
              <a:srgbClr val="DDA707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6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924567" y="5344380"/>
            <a:ext cx="476250" cy="416719"/>
            <a:chOff x="0" y="0"/>
            <a:chExt cx="812800" cy="711200"/>
          </a:xfrm>
        </p:grpSpPr>
        <p:sp>
          <p:nvSpPr>
            <p:cNvPr id="24" name="Freeform 24"/>
            <p:cNvSpPr/>
            <p:nvPr/>
          </p:nvSpPr>
          <p:spPr>
            <a:xfrm>
              <a:off x="68223" y="94337"/>
              <a:ext cx="676354" cy="616863"/>
            </a:xfrm>
            <a:custGeom>
              <a:avLst/>
              <a:gdLst/>
              <a:ahLst/>
              <a:cxnLst/>
              <a:rect l="l" t="t" r="r" b="b"/>
              <a:pathLst>
                <a:path w="676354" h="616863">
                  <a:moveTo>
                    <a:pt x="418829" y="46805"/>
                  </a:moveTo>
                  <a:lnTo>
                    <a:pt x="663925" y="475721"/>
                  </a:lnTo>
                  <a:cubicBezTo>
                    <a:pt x="680609" y="504919"/>
                    <a:pt x="680489" y="540791"/>
                    <a:pt x="663610" y="569876"/>
                  </a:cubicBezTo>
                  <a:cubicBezTo>
                    <a:pt x="646731" y="598962"/>
                    <a:pt x="615645" y="616863"/>
                    <a:pt x="582017" y="616863"/>
                  </a:cubicBezTo>
                  <a:lnTo>
                    <a:pt x="94337" y="616863"/>
                  </a:lnTo>
                  <a:cubicBezTo>
                    <a:pt x="60709" y="616863"/>
                    <a:pt x="29623" y="598962"/>
                    <a:pt x="12744" y="569876"/>
                  </a:cubicBezTo>
                  <a:cubicBezTo>
                    <a:pt x="-4135" y="540791"/>
                    <a:pt x="-4255" y="504919"/>
                    <a:pt x="12429" y="475721"/>
                  </a:cubicBezTo>
                  <a:lnTo>
                    <a:pt x="257525" y="46805"/>
                  </a:lnTo>
                  <a:cubicBezTo>
                    <a:pt x="274063" y="17862"/>
                    <a:pt x="304842" y="0"/>
                    <a:pt x="338177" y="0"/>
                  </a:cubicBezTo>
                  <a:cubicBezTo>
                    <a:pt x="371512" y="0"/>
                    <a:pt x="402291" y="17862"/>
                    <a:pt x="418829" y="46805"/>
                  </a:cubicBezTo>
                  <a:close/>
                </a:path>
              </a:pathLst>
            </a:custGeom>
            <a:solidFill>
              <a:srgbClr val="E46671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6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 rot="-5400000">
            <a:off x="8900948" y="7235154"/>
            <a:ext cx="476250" cy="416719"/>
            <a:chOff x="0" y="0"/>
            <a:chExt cx="812800" cy="711200"/>
          </a:xfrm>
        </p:grpSpPr>
        <p:sp>
          <p:nvSpPr>
            <p:cNvPr id="27" name="Freeform 27"/>
            <p:cNvSpPr/>
            <p:nvPr/>
          </p:nvSpPr>
          <p:spPr>
            <a:xfrm>
              <a:off x="68223" y="94337"/>
              <a:ext cx="676354" cy="616863"/>
            </a:xfrm>
            <a:custGeom>
              <a:avLst/>
              <a:gdLst/>
              <a:ahLst/>
              <a:cxnLst/>
              <a:rect l="l" t="t" r="r" b="b"/>
              <a:pathLst>
                <a:path w="676354" h="616863">
                  <a:moveTo>
                    <a:pt x="418829" y="46805"/>
                  </a:moveTo>
                  <a:lnTo>
                    <a:pt x="663925" y="475721"/>
                  </a:lnTo>
                  <a:cubicBezTo>
                    <a:pt x="680609" y="504919"/>
                    <a:pt x="680489" y="540791"/>
                    <a:pt x="663610" y="569876"/>
                  </a:cubicBezTo>
                  <a:cubicBezTo>
                    <a:pt x="646731" y="598962"/>
                    <a:pt x="615645" y="616863"/>
                    <a:pt x="582017" y="616863"/>
                  </a:cubicBezTo>
                  <a:lnTo>
                    <a:pt x="94337" y="616863"/>
                  </a:lnTo>
                  <a:cubicBezTo>
                    <a:pt x="60709" y="616863"/>
                    <a:pt x="29623" y="598962"/>
                    <a:pt x="12744" y="569876"/>
                  </a:cubicBezTo>
                  <a:cubicBezTo>
                    <a:pt x="-4135" y="540791"/>
                    <a:pt x="-4255" y="504919"/>
                    <a:pt x="12429" y="475721"/>
                  </a:cubicBezTo>
                  <a:lnTo>
                    <a:pt x="257525" y="46805"/>
                  </a:lnTo>
                  <a:cubicBezTo>
                    <a:pt x="274063" y="17862"/>
                    <a:pt x="304842" y="0"/>
                    <a:pt x="338177" y="0"/>
                  </a:cubicBezTo>
                  <a:cubicBezTo>
                    <a:pt x="371512" y="0"/>
                    <a:pt x="402291" y="17862"/>
                    <a:pt x="418829" y="46805"/>
                  </a:cubicBezTo>
                  <a:close/>
                </a:path>
              </a:pathLst>
            </a:custGeom>
            <a:solidFill>
              <a:srgbClr val="38AEB6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6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602724" y="2233380"/>
            <a:ext cx="3367974" cy="33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9"/>
              </a:lnSpc>
              <a:spcBef>
                <a:spcPct val="0"/>
              </a:spcBef>
            </a:pPr>
            <a:r>
              <a:rPr lang="en-US" sz="1999" b="1" dirty="0">
                <a:latin typeface="Montserrat Ultra-Bold"/>
                <a:ea typeface="Montserrat Ultra-Bold"/>
                <a:cs typeface="Montserrat Ultra-Bold"/>
                <a:sym typeface="Montserrat Ultra-Bold"/>
              </a:rPr>
              <a:t>VM Configuration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911476" y="2233380"/>
            <a:ext cx="3367974" cy="33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9"/>
              </a:lnSpc>
              <a:spcBef>
                <a:spcPct val="0"/>
              </a:spcBef>
            </a:pPr>
            <a:r>
              <a:rPr lang="en-US" sz="1999" b="1" dirty="0">
                <a:latin typeface="Montserrat Ultra-Bold"/>
                <a:ea typeface="Montserrat Ultra-Bold"/>
                <a:cs typeface="Montserrat Ultra-Bold"/>
                <a:sym typeface="Montserrat Ultra-Bold"/>
              </a:rPr>
              <a:t>Network Requirements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602724" y="6348180"/>
            <a:ext cx="4018254" cy="33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9"/>
              </a:lnSpc>
              <a:spcBef>
                <a:spcPct val="0"/>
              </a:spcBef>
            </a:pPr>
            <a:r>
              <a:rPr lang="en-US" sz="1999" b="1" dirty="0">
                <a:latin typeface="Montserrat Ultra-Bold"/>
                <a:ea typeface="Montserrat Ultra-Bold"/>
                <a:cs typeface="Montserrat Ultra-Bold"/>
                <a:sym typeface="Montserrat Ultra-Bold"/>
              </a:rPr>
              <a:t>Backup Policy Configuration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911476" y="6348180"/>
            <a:ext cx="3913966" cy="33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9"/>
              </a:lnSpc>
              <a:spcBef>
                <a:spcPct val="0"/>
              </a:spcBef>
            </a:pPr>
            <a:r>
              <a:rPr lang="en-US" sz="1999" b="1" dirty="0">
                <a:latin typeface="Montserrat Ultra-Bold"/>
                <a:ea typeface="Montserrat Ultra-Bold"/>
                <a:cs typeface="Montserrat Ultra-Bold"/>
                <a:sym typeface="Montserrat Ultra-Bold"/>
              </a:rPr>
              <a:t>Assign role &amp; Permissions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462558" y="2843921"/>
            <a:ext cx="4054133" cy="1527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99"/>
              </a:lnSpc>
            </a:pPr>
            <a:r>
              <a:rPr lang="en-US" sz="1399">
                <a:solidFill>
                  <a:srgbClr val="1C1C1A"/>
                </a:solidFill>
                <a:latin typeface="Montserrat"/>
                <a:ea typeface="Montserrat"/>
                <a:cs typeface="Montserrat"/>
                <a:sym typeface="Montserrat"/>
              </a:rPr>
              <a:t>•CPU: Minimum 8 cores</a:t>
            </a:r>
          </a:p>
          <a:p>
            <a:pPr marL="0" lvl="0" indent="0" algn="l">
              <a:lnSpc>
                <a:spcPts val="2099"/>
              </a:lnSpc>
            </a:pPr>
            <a:r>
              <a:rPr lang="en-US" sz="1399">
                <a:solidFill>
                  <a:srgbClr val="1C1C1A"/>
                </a:solidFill>
                <a:latin typeface="Montserrat"/>
                <a:ea typeface="Montserrat"/>
                <a:cs typeface="Montserrat"/>
                <a:sym typeface="Montserrat"/>
              </a:rPr>
              <a:t>•RAM: Minimum 32 GB</a:t>
            </a:r>
          </a:p>
          <a:p>
            <a:pPr marL="0" lvl="0" indent="0" algn="l">
              <a:lnSpc>
                <a:spcPts val="2099"/>
              </a:lnSpc>
            </a:pPr>
            <a:r>
              <a:rPr lang="en-US" sz="1399">
                <a:solidFill>
                  <a:srgbClr val="1C1C1A"/>
                </a:solidFill>
                <a:latin typeface="Montserrat"/>
                <a:ea typeface="Montserrat"/>
                <a:cs typeface="Montserrat"/>
                <a:sym typeface="Montserrat"/>
              </a:rPr>
              <a:t>C Drive : 150 GB</a:t>
            </a:r>
          </a:p>
          <a:p>
            <a:pPr marL="0" lvl="0" indent="0" algn="l">
              <a:lnSpc>
                <a:spcPts val="2099"/>
              </a:lnSpc>
            </a:pPr>
            <a:r>
              <a:rPr lang="en-US" sz="1399">
                <a:solidFill>
                  <a:srgbClr val="1C1C1A"/>
                </a:solidFill>
                <a:latin typeface="Montserrat"/>
                <a:ea typeface="Montserrat"/>
                <a:cs typeface="Montserrat"/>
                <a:sym typeface="Montserrat"/>
              </a:rPr>
              <a:t>•Disk: 1.5x protected data size</a:t>
            </a:r>
          </a:p>
          <a:p>
            <a:pPr marL="0" lvl="0" indent="0" algn="l">
              <a:lnSpc>
                <a:spcPts val="2099"/>
              </a:lnSpc>
            </a:pPr>
            <a:r>
              <a:rPr lang="en-US" sz="1399">
                <a:solidFill>
                  <a:srgbClr val="1C1C1A"/>
                </a:solidFill>
                <a:latin typeface="Montserrat"/>
                <a:ea typeface="Montserrat"/>
                <a:cs typeface="Montserrat"/>
                <a:sym typeface="Montserrat"/>
              </a:rPr>
              <a:t>•Separate disk for backup storage</a:t>
            </a:r>
          </a:p>
          <a:p>
            <a:pPr marL="0" lvl="0" indent="0" algn="l">
              <a:lnSpc>
                <a:spcPts val="2099"/>
              </a:lnSpc>
            </a:pPr>
            <a:endParaRPr lang="en-US" sz="1399">
              <a:solidFill>
                <a:srgbClr val="1C1C1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2771310" y="2843921"/>
            <a:ext cx="4054133" cy="1784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99"/>
              </a:lnSpc>
            </a:pPr>
            <a:r>
              <a:rPr lang="en-US" sz="1399">
                <a:solidFill>
                  <a:srgbClr val="1C1C1A"/>
                </a:solidFill>
                <a:latin typeface="Montserrat"/>
                <a:ea typeface="Montserrat"/>
                <a:cs typeface="Montserrat"/>
                <a:sym typeface="Montserrat"/>
              </a:rPr>
              <a:t>•MABS to vCenter: TCP 443</a:t>
            </a:r>
          </a:p>
          <a:p>
            <a:pPr marL="0" lvl="0" indent="0" algn="l">
              <a:lnSpc>
                <a:spcPts val="2099"/>
              </a:lnSpc>
            </a:pPr>
            <a:r>
              <a:rPr lang="en-US" sz="1399">
                <a:solidFill>
                  <a:srgbClr val="1C1C1A"/>
                </a:solidFill>
                <a:latin typeface="Montserrat"/>
                <a:ea typeface="Montserrat"/>
                <a:cs typeface="Montserrat"/>
                <a:sym typeface="Montserrat"/>
              </a:rPr>
              <a:t>•MABS to ESXi Hosts: TCP 902</a:t>
            </a:r>
          </a:p>
          <a:p>
            <a:pPr marL="0" lvl="0" indent="0" algn="l">
              <a:lnSpc>
                <a:spcPts val="2099"/>
              </a:lnSpc>
            </a:pPr>
            <a:r>
              <a:rPr lang="en-US" sz="1399">
                <a:solidFill>
                  <a:srgbClr val="1C1C1A"/>
                </a:solidFill>
                <a:latin typeface="Montserrat"/>
                <a:ea typeface="Montserrat"/>
                <a:cs typeface="Montserrat"/>
                <a:sym typeface="Montserrat"/>
              </a:rPr>
              <a:t>•MABS to Azure: TCP 443 outbound</a:t>
            </a:r>
          </a:p>
          <a:p>
            <a:pPr marL="0" lvl="0" indent="0" algn="l">
              <a:lnSpc>
                <a:spcPts val="2099"/>
              </a:lnSpc>
            </a:pPr>
            <a:r>
              <a:rPr lang="en-US" sz="1399">
                <a:solidFill>
                  <a:srgbClr val="1C1C1A"/>
                </a:solidFill>
                <a:latin typeface="Montserrat"/>
                <a:ea typeface="Montserrat"/>
                <a:cs typeface="Montserrat"/>
                <a:sym typeface="Montserrat"/>
              </a:rPr>
              <a:t>•DNS resolution required</a:t>
            </a:r>
          </a:p>
          <a:p>
            <a:pPr marL="0" lvl="0" indent="0" algn="l">
              <a:lnSpc>
                <a:spcPts val="2099"/>
              </a:lnSpc>
            </a:pPr>
            <a:r>
              <a:rPr lang="en-US" sz="1399">
                <a:solidFill>
                  <a:srgbClr val="1C1C1A"/>
                </a:solidFill>
                <a:latin typeface="Montserrat"/>
                <a:ea typeface="Montserrat"/>
                <a:cs typeface="Montserrat"/>
                <a:sym typeface="Montserrat"/>
              </a:rPr>
              <a:t>•Internet or ExpressRoute connectivity</a:t>
            </a:r>
          </a:p>
          <a:p>
            <a:pPr marL="0" lvl="0" indent="0" algn="l">
              <a:lnSpc>
                <a:spcPts val="2099"/>
              </a:lnSpc>
            </a:pPr>
            <a:endParaRPr lang="en-US" sz="1399">
              <a:solidFill>
                <a:srgbClr val="1C1C1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>
              <a:lnSpc>
                <a:spcPts val="2099"/>
              </a:lnSpc>
            </a:pPr>
            <a:endParaRPr lang="en-US" sz="1399">
              <a:solidFill>
                <a:srgbClr val="1C1C1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1462558" y="6958721"/>
            <a:ext cx="4054133" cy="1527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99"/>
              </a:lnSpc>
            </a:pPr>
            <a:r>
              <a:rPr lang="en-US" sz="1399">
                <a:solidFill>
                  <a:srgbClr val="1C1C1A"/>
                </a:solidFill>
                <a:latin typeface="Montserrat"/>
                <a:ea typeface="Montserrat"/>
                <a:cs typeface="Montserrat"/>
                <a:sym typeface="Montserrat"/>
              </a:rPr>
              <a:t>•Define protection groups</a:t>
            </a:r>
          </a:p>
          <a:p>
            <a:pPr marL="0" lvl="0" indent="0" algn="l">
              <a:lnSpc>
                <a:spcPts val="2099"/>
              </a:lnSpc>
            </a:pPr>
            <a:r>
              <a:rPr lang="en-US" sz="1399">
                <a:solidFill>
                  <a:srgbClr val="1C1C1A"/>
                </a:solidFill>
                <a:latin typeface="Montserrat"/>
                <a:ea typeface="Montserrat"/>
                <a:cs typeface="Montserrat"/>
                <a:sym typeface="Montserrat"/>
              </a:rPr>
              <a:t>•Configure backup schedule</a:t>
            </a:r>
          </a:p>
          <a:p>
            <a:pPr marL="0" lvl="0" indent="0" algn="l">
              <a:lnSpc>
                <a:spcPts val="2099"/>
              </a:lnSpc>
            </a:pPr>
            <a:r>
              <a:rPr lang="en-US" sz="1399">
                <a:solidFill>
                  <a:srgbClr val="1C1C1A"/>
                </a:solidFill>
                <a:latin typeface="Montserrat"/>
                <a:ea typeface="Montserrat"/>
                <a:cs typeface="Montserrat"/>
                <a:sym typeface="Montserrat"/>
              </a:rPr>
              <a:t>•Configure retention policy</a:t>
            </a:r>
          </a:p>
          <a:p>
            <a:pPr marL="0" lvl="0" indent="0" algn="l">
              <a:lnSpc>
                <a:spcPts val="2099"/>
              </a:lnSpc>
            </a:pPr>
            <a:r>
              <a:rPr lang="en-US" sz="1399">
                <a:solidFill>
                  <a:srgbClr val="1C1C1A"/>
                </a:solidFill>
                <a:latin typeface="Montserrat"/>
                <a:ea typeface="Montserrat"/>
                <a:cs typeface="Montserrat"/>
                <a:sym typeface="Montserrat"/>
              </a:rPr>
              <a:t>•Configure disk and cloud protection</a:t>
            </a:r>
          </a:p>
          <a:p>
            <a:pPr marL="0" lvl="0" indent="0" algn="l">
              <a:lnSpc>
                <a:spcPts val="2099"/>
              </a:lnSpc>
            </a:pPr>
            <a:r>
              <a:rPr lang="en-US" sz="1399">
                <a:solidFill>
                  <a:srgbClr val="1C1C1A"/>
                </a:solidFill>
                <a:latin typeface="Montserrat"/>
                <a:ea typeface="Montserrat"/>
                <a:cs typeface="Montserrat"/>
                <a:sym typeface="Montserrat"/>
              </a:rPr>
              <a:t>•Enable application-consistent backup</a:t>
            </a:r>
          </a:p>
          <a:p>
            <a:pPr marL="0" lvl="0" indent="0" algn="l">
              <a:lnSpc>
                <a:spcPts val="2099"/>
              </a:lnSpc>
            </a:pPr>
            <a:endParaRPr lang="en-US" sz="1399">
              <a:solidFill>
                <a:srgbClr val="1C1C1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12771310" y="6958721"/>
            <a:ext cx="4054133" cy="1013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2259" lvl="1" indent="-151129" algn="l">
              <a:lnSpc>
                <a:spcPts val="2099"/>
              </a:lnSpc>
              <a:buFont typeface="Arial"/>
              <a:buChar char="•"/>
            </a:pPr>
            <a:r>
              <a:rPr lang="en-US" sz="1399">
                <a:solidFill>
                  <a:srgbClr val="1C1C1A"/>
                </a:solidFill>
                <a:latin typeface="Montserrat"/>
                <a:ea typeface="Montserrat"/>
                <a:cs typeface="Montserrat"/>
                <a:sym typeface="Montserrat"/>
              </a:rPr>
              <a:t>VM → Snapshot → Create/Delete</a:t>
            </a:r>
          </a:p>
          <a:p>
            <a:pPr marL="302259" lvl="1" indent="-151129" algn="l">
              <a:lnSpc>
                <a:spcPts val="2099"/>
              </a:lnSpc>
              <a:buFont typeface="Arial"/>
              <a:buChar char="•"/>
            </a:pPr>
            <a:r>
              <a:rPr lang="en-US" sz="1399">
                <a:solidFill>
                  <a:srgbClr val="1C1C1A"/>
                </a:solidFill>
                <a:latin typeface="Montserrat"/>
                <a:ea typeface="Montserrat"/>
                <a:cs typeface="Montserrat"/>
                <a:sym typeface="Montserrat"/>
              </a:rPr>
              <a:t>VM → Configuration → Read</a:t>
            </a:r>
          </a:p>
          <a:p>
            <a:pPr marL="302259" lvl="1" indent="-151129" algn="l">
              <a:lnSpc>
                <a:spcPts val="2099"/>
              </a:lnSpc>
              <a:buFont typeface="Arial"/>
              <a:buChar char="•"/>
            </a:pPr>
            <a:r>
              <a:rPr lang="en-US" sz="1399">
                <a:solidFill>
                  <a:srgbClr val="1C1C1A"/>
                </a:solidFill>
                <a:latin typeface="Montserrat"/>
                <a:ea typeface="Montserrat"/>
                <a:cs typeface="Montserrat"/>
                <a:sym typeface="Montserrat"/>
              </a:rPr>
              <a:t>VM → Provisioning → Read</a:t>
            </a:r>
          </a:p>
          <a:p>
            <a:pPr marL="302259" lvl="1" indent="-151129" algn="l">
              <a:lnSpc>
                <a:spcPts val="2099"/>
              </a:lnSpc>
              <a:buFont typeface="Arial"/>
              <a:buChar char="•"/>
            </a:pPr>
            <a:r>
              <a:rPr lang="en-US" sz="1399">
                <a:solidFill>
                  <a:srgbClr val="1C1C1A"/>
                </a:solidFill>
                <a:latin typeface="Montserrat"/>
                <a:ea typeface="Montserrat"/>
                <a:cs typeface="Montserrat"/>
                <a:sym typeface="Montserrat"/>
              </a:rPr>
              <a:t>DataStore → Browser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400817" y="3967976"/>
            <a:ext cx="759319" cy="671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529"/>
              </a:lnSpc>
            </a:pPr>
            <a:r>
              <a:rPr lang="en-US" sz="3949" b="1" spc="165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01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400817" y="6381852"/>
            <a:ext cx="759319" cy="671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529"/>
              </a:lnSpc>
            </a:pPr>
            <a:r>
              <a:rPr lang="en-US" sz="3949" b="1" spc="165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03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129838" y="3967976"/>
            <a:ext cx="759319" cy="671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529"/>
              </a:lnSpc>
            </a:pPr>
            <a:r>
              <a:rPr lang="en-US" sz="3949" b="1" spc="165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02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129838" y="6381852"/>
            <a:ext cx="759319" cy="671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529"/>
              </a:lnSpc>
            </a:pPr>
            <a:r>
              <a:rPr lang="en-US" sz="3949" b="1" spc="165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04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620978" y="679768"/>
            <a:ext cx="7046045" cy="764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829"/>
              </a:lnSpc>
            </a:pPr>
            <a:r>
              <a:rPr lang="en-US" sz="5499" b="1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Recommendations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20918" y="1525253"/>
            <a:ext cx="19329836" cy="3618247"/>
            <a:chOff x="0" y="0"/>
            <a:chExt cx="5090986" cy="95295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90986" cy="952954"/>
            </a:xfrm>
            <a:custGeom>
              <a:avLst/>
              <a:gdLst/>
              <a:ahLst/>
              <a:cxnLst/>
              <a:rect l="l" t="t" r="r" b="b"/>
              <a:pathLst>
                <a:path w="5090986" h="952954">
                  <a:moveTo>
                    <a:pt x="0" y="0"/>
                  </a:moveTo>
                  <a:lnTo>
                    <a:pt x="5090986" y="0"/>
                  </a:lnTo>
                  <a:lnTo>
                    <a:pt x="5090986" y="952954"/>
                  </a:lnTo>
                  <a:lnTo>
                    <a:pt x="0" y="952954"/>
                  </a:lnTo>
                  <a:close/>
                </a:path>
              </a:pathLst>
            </a:custGeom>
            <a:solidFill>
              <a:srgbClr val="F7F5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090986" cy="9910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2533579" y="732930"/>
            <a:ext cx="6127478" cy="6127478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C3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694101" y="732930"/>
            <a:ext cx="6127478" cy="6127478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C3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5963442" y="732930"/>
            <a:ext cx="6361116" cy="5780664"/>
          </a:xfrm>
          <a:custGeom>
            <a:avLst/>
            <a:gdLst/>
            <a:ahLst/>
            <a:cxnLst/>
            <a:rect l="l" t="t" r="r" b="b"/>
            <a:pathLst>
              <a:path w="6361116" h="5780664">
                <a:moveTo>
                  <a:pt x="0" y="0"/>
                </a:moveTo>
                <a:lnTo>
                  <a:pt x="6361116" y="0"/>
                </a:lnTo>
                <a:lnTo>
                  <a:pt x="6361116" y="5780664"/>
                </a:lnTo>
                <a:lnTo>
                  <a:pt x="0" y="57806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3073966" y="7245594"/>
            <a:ext cx="12140068" cy="1214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00"/>
              </a:lnSpc>
            </a:pPr>
            <a:r>
              <a:rPr lang="en-US" sz="9200" b="1">
                <a:solidFill>
                  <a:srgbClr val="6644A8"/>
                </a:solidFill>
                <a:latin typeface="Inter Heavy"/>
                <a:ea typeface="Inter Heavy"/>
                <a:cs typeface="Inter Heavy"/>
                <a:sym typeface="Inter Heavy"/>
              </a:rPr>
              <a:t>THANK YOU</a:t>
            </a:r>
          </a:p>
        </p:txBody>
      </p:sp>
      <p:sp>
        <p:nvSpPr>
          <p:cNvPr id="13" name="Freeform 13"/>
          <p:cNvSpPr/>
          <p:nvPr/>
        </p:nvSpPr>
        <p:spPr>
          <a:xfrm>
            <a:off x="15497330" y="8660342"/>
            <a:ext cx="1761970" cy="447100"/>
          </a:xfrm>
          <a:custGeom>
            <a:avLst/>
            <a:gdLst/>
            <a:ahLst/>
            <a:cxnLst/>
            <a:rect l="l" t="t" r="r" b="b"/>
            <a:pathLst>
              <a:path w="1761970" h="447100">
                <a:moveTo>
                  <a:pt x="0" y="0"/>
                </a:moveTo>
                <a:lnTo>
                  <a:pt x="1761970" y="0"/>
                </a:lnTo>
                <a:lnTo>
                  <a:pt x="1761970" y="447100"/>
                </a:lnTo>
                <a:lnTo>
                  <a:pt x="0" y="4471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4" name="Freeform 14"/>
          <p:cNvSpPr/>
          <p:nvPr/>
        </p:nvSpPr>
        <p:spPr>
          <a:xfrm flipH="1">
            <a:off x="1028700" y="8660342"/>
            <a:ext cx="1761970" cy="447100"/>
          </a:xfrm>
          <a:custGeom>
            <a:avLst/>
            <a:gdLst/>
            <a:ahLst/>
            <a:cxnLst/>
            <a:rect l="l" t="t" r="r" b="b"/>
            <a:pathLst>
              <a:path w="1761970" h="447100">
                <a:moveTo>
                  <a:pt x="1761970" y="0"/>
                </a:moveTo>
                <a:lnTo>
                  <a:pt x="0" y="0"/>
                </a:lnTo>
                <a:lnTo>
                  <a:pt x="0" y="447100"/>
                </a:lnTo>
                <a:lnTo>
                  <a:pt x="1761970" y="447100"/>
                </a:lnTo>
                <a:lnTo>
                  <a:pt x="176197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</Words>
  <Application>Microsoft Office PowerPoint</Application>
  <PresentationFormat>Custom</PresentationFormat>
  <Paragraphs>31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Inter Heavy</vt:lpstr>
      <vt:lpstr>Montserrat Ultra-Bold</vt:lpstr>
      <vt:lpstr>Poppins</vt:lpstr>
      <vt:lpstr>Calibri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Requirements</dc:title>
  <cp:lastModifiedBy>AMIT GUPTA</cp:lastModifiedBy>
  <cp:revision>2</cp:revision>
  <dcterms:created xsi:type="dcterms:W3CDTF">2006-08-16T00:00:00Z</dcterms:created>
  <dcterms:modified xsi:type="dcterms:W3CDTF">2026-02-28T15:36:53Z</dcterms:modified>
  <dc:identifier>DAHCn7-2pd0</dc:identifier>
</cp:coreProperties>
</file>